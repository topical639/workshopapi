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8"/>
  </p:notesMasterIdLst>
  <p:handoutMasterIdLst>
    <p:handoutMasterId r:id="rId59"/>
  </p:handoutMasterIdLst>
  <p:sldIdLst>
    <p:sldId id="256" r:id="rId5"/>
    <p:sldId id="258" r:id="rId6"/>
    <p:sldId id="268" r:id="rId7"/>
    <p:sldId id="270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3" r:id="rId17"/>
    <p:sldId id="285" r:id="rId18"/>
    <p:sldId id="282" r:id="rId19"/>
    <p:sldId id="280" r:id="rId20"/>
    <p:sldId id="284" r:id="rId21"/>
    <p:sldId id="286" r:id="rId22"/>
    <p:sldId id="287" r:id="rId23"/>
    <p:sldId id="323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5" r:id="rId41"/>
    <p:sldId id="306" r:id="rId42"/>
    <p:sldId id="308" r:id="rId43"/>
    <p:sldId id="309" r:id="rId44"/>
    <p:sldId id="310" r:id="rId45"/>
    <p:sldId id="311" r:id="rId46"/>
    <p:sldId id="312" r:id="rId47"/>
    <p:sldId id="313" r:id="rId48"/>
    <p:sldId id="315" r:id="rId49"/>
    <p:sldId id="314" r:id="rId50"/>
    <p:sldId id="316" r:id="rId51"/>
    <p:sldId id="317" r:id="rId52"/>
    <p:sldId id="318" r:id="rId53"/>
    <p:sldId id="319" r:id="rId54"/>
    <p:sldId id="320" r:id="rId55"/>
    <p:sldId id="321" r:id="rId56"/>
    <p:sldId id="322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A8CE79-7698-C8F7-118C-A2B1250ECD1A}" name="Chutipon Mainita" initials="CM" userId="S::chutipon.mai@tokiomarinelife.co.th::60a936a6-12ac-413a-ad30-5fb9b38228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B39"/>
    <a:srgbClr val="FFFFFF"/>
    <a:srgbClr val="005A70"/>
    <a:srgbClr val="0090A1"/>
    <a:srgbClr val="D2D711"/>
    <a:srgbClr val="001C26"/>
    <a:srgbClr val="F9F9F9"/>
    <a:srgbClr val="324B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950" y="8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98DFE6-D73C-5866-C75E-B822170C42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E5565-8F7F-EC8D-A9BD-9387D66413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5B4091-975F-4505-B078-2F480F69BF7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5FF91-50C9-FF55-AB92-4613B8C3F7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678B8-0B79-BA5A-32C9-C65A4170A0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C3D65-7899-4CEE-9C89-D7CC35781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1534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8B39A-D246-49E6-86A0-FA93C9F16F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41B0A-93F7-4769-83DF-4162D38F5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46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green circles&#10;&#10;Description automatically generated">
            <a:extLst>
              <a:ext uri="{FF2B5EF4-FFF2-40B4-BE49-F238E27FC236}">
                <a16:creationId xmlns:a16="http://schemas.microsoft.com/office/drawing/2014/main" id="{694358A4-070A-B2C0-327D-D91528F8FD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5F3ACE-6275-B24B-3DAA-FFD15BBEA8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60" y="1081708"/>
            <a:ext cx="9387840" cy="1312817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rgbClr val="FFFFFF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5B0642-52FB-93D4-4AB8-C32C69E7E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0160" y="2530617"/>
            <a:ext cx="5434676" cy="159961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A51454C0-FF21-4C3D-F7A1-E2181D4AF7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4" y="6340576"/>
            <a:ext cx="2237173" cy="4644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4CCF29-D422-FF6C-EE6C-67404E0E4812}"/>
              </a:ext>
            </a:extLst>
          </p:cNvPr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656683" y="2035384"/>
            <a:ext cx="891799" cy="1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29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green circles&#10;&#10;Description automatically generated">
            <a:extLst>
              <a:ext uri="{FF2B5EF4-FFF2-40B4-BE49-F238E27FC236}">
                <a16:creationId xmlns:a16="http://schemas.microsoft.com/office/drawing/2014/main" id="{95C7C379-83E8-E05B-974C-CEBFDA03BD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66154C6-A200-DFB6-7BC2-ADE25E476F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60" y="1081708"/>
            <a:ext cx="9387840" cy="1312817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rgbClr val="FFFFFF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2B987B1-0BB9-1B74-0B80-0A4486594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0160" y="2530617"/>
            <a:ext cx="5434676" cy="159961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FFFFFF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" name="Picture 1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AA6D3CBF-E8E0-A01B-51EE-03063ED252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4" y="6340576"/>
            <a:ext cx="2237173" cy="4644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4644BB-D092-EDF5-CD3A-A4B1B8B18521}"/>
              </a:ext>
            </a:extLst>
          </p:cNvPr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656683" y="2035384"/>
            <a:ext cx="891799" cy="1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503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green background&#10;&#10;Description automatically generated">
            <a:extLst>
              <a:ext uri="{FF2B5EF4-FFF2-40B4-BE49-F238E27FC236}">
                <a16:creationId xmlns:a16="http://schemas.microsoft.com/office/drawing/2014/main" id="{FBD923B0-0BC5-4751-5F57-80F4617F5F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C842F9F-0478-718F-8ABB-DAC9EE17D3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6798" y="2116183"/>
            <a:ext cx="9021202" cy="1312817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005A7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739A719-2716-D2E7-3EA0-25DCFF911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6798" y="3602038"/>
            <a:ext cx="9021202" cy="159961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005A7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D6354-F815-5987-5AE7-E1BEA95F7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30663-6B18-F204-C3B7-735C281D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019" y="6372498"/>
            <a:ext cx="519136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AC836D8-5884-4E87-8BBE-1099CD100D0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E330E653-A948-DE5B-5203-3E157980D4B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4" y="250672"/>
            <a:ext cx="2237173" cy="4644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4F711D-69CC-E8DE-D95D-D0AB60A2FC5E}"/>
              </a:ext>
            </a:extLst>
          </p:cNvPr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656683" y="2035384"/>
            <a:ext cx="891799" cy="1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5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B7C69-4BA0-765A-BB95-1A52ABEE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D2014-31A3-20FF-2B77-9B8074412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474"/>
            <a:ext cx="10515600" cy="48314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>
                <a:solidFill>
                  <a:srgbClr val="324B4F"/>
                </a:solidFill>
                <a:latin typeface="Trebuchet MS" panose="020B0603020202020204" pitchFamily="34" charset="0"/>
              </a:defRPr>
            </a:lvl1pPr>
            <a:lvl2pPr>
              <a:defRPr sz="1800">
                <a:solidFill>
                  <a:srgbClr val="324B4F"/>
                </a:solidFill>
                <a:latin typeface="Trebuchet MS" panose="020B0603020202020204" pitchFamily="34" charset="0"/>
              </a:defRPr>
            </a:lvl2pPr>
            <a:lvl3pPr>
              <a:defRPr sz="1600">
                <a:solidFill>
                  <a:srgbClr val="324B4F"/>
                </a:solidFill>
                <a:latin typeface="Trebuchet MS" panose="020B0603020202020204" pitchFamily="34" charset="0"/>
              </a:defRPr>
            </a:lvl3pPr>
            <a:lvl4pPr>
              <a:defRPr sz="1400">
                <a:solidFill>
                  <a:srgbClr val="324B4F"/>
                </a:solidFill>
                <a:latin typeface="Trebuchet MS" panose="020B0603020202020204" pitchFamily="34" charset="0"/>
              </a:defRPr>
            </a:lvl4pPr>
            <a:lvl5pPr>
              <a:defRPr sz="1400">
                <a:solidFill>
                  <a:srgbClr val="324B4F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30EEF78-8D04-D601-A4CF-85EF747263A0}"/>
              </a:ext>
            </a:extLst>
          </p:cNvPr>
          <p:cNvSpPr txBox="1">
            <a:spLocks/>
          </p:cNvSpPr>
          <p:nvPr userDrawn="1"/>
        </p:nvSpPr>
        <p:spPr>
          <a:xfrm>
            <a:off x="11399019" y="6372498"/>
            <a:ext cx="51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836D8-5884-4E87-8BBE-1099CD100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864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DFC755-BEE3-E88A-7B0A-8C94C560C2A6}"/>
              </a:ext>
            </a:extLst>
          </p:cNvPr>
          <p:cNvSpPr/>
          <p:nvPr userDrawn="1"/>
        </p:nvSpPr>
        <p:spPr>
          <a:xfrm>
            <a:off x="10589623" y="95794"/>
            <a:ext cx="1602377" cy="147174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83818C-2E5F-0180-49E4-E4C0C52E3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C65CC4C-A4CB-C0C3-6FC5-E75FA3F19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474"/>
            <a:ext cx="10515600" cy="48314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rgbClr val="324B4F"/>
                </a:solidFill>
                <a:latin typeface="Trebuchet MS" panose="020B0603020202020204" pitchFamily="34" charset="0"/>
              </a:defRPr>
            </a:lvl1pPr>
            <a:lvl2pPr>
              <a:defRPr sz="2000">
                <a:solidFill>
                  <a:srgbClr val="324B4F"/>
                </a:solidFill>
                <a:latin typeface="Trebuchet MS" panose="020B0603020202020204" pitchFamily="34" charset="0"/>
              </a:defRPr>
            </a:lvl2pPr>
            <a:lvl3pPr>
              <a:defRPr sz="1800">
                <a:solidFill>
                  <a:srgbClr val="324B4F"/>
                </a:solidFill>
                <a:latin typeface="Trebuchet MS" panose="020B0603020202020204" pitchFamily="34" charset="0"/>
              </a:defRPr>
            </a:lvl3pPr>
            <a:lvl4pPr>
              <a:defRPr sz="1600">
                <a:solidFill>
                  <a:srgbClr val="324B4F"/>
                </a:solidFill>
                <a:latin typeface="Trebuchet MS" panose="020B0603020202020204" pitchFamily="34" charset="0"/>
              </a:defRPr>
            </a:lvl4pPr>
            <a:lvl5pPr>
              <a:defRPr sz="1600">
                <a:solidFill>
                  <a:srgbClr val="324B4F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5E04809-5DB3-9B82-22A2-7A02819D9AD5}"/>
              </a:ext>
            </a:extLst>
          </p:cNvPr>
          <p:cNvSpPr txBox="1">
            <a:spLocks/>
          </p:cNvSpPr>
          <p:nvPr userDrawn="1"/>
        </p:nvSpPr>
        <p:spPr>
          <a:xfrm>
            <a:off x="11399019" y="6372498"/>
            <a:ext cx="51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836D8-5884-4E87-8BBE-1099CD100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25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le with white circles&#10;&#10;Description automatically generated">
            <a:extLst>
              <a:ext uri="{FF2B5EF4-FFF2-40B4-BE49-F238E27FC236}">
                <a16:creationId xmlns:a16="http://schemas.microsoft.com/office/drawing/2014/main" id="{0B2AA9F2-AFCD-6BD1-ECF4-2AB90A9F4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0E85B02-F8A9-6598-06D9-70976E400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1132"/>
            <a:ext cx="10515600" cy="779463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50DC71B-F45E-4E72-8E54-309BF4A13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369"/>
            <a:ext cx="10515600" cy="453459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>
                <a:solidFill>
                  <a:srgbClr val="FFFFFF"/>
                </a:solidFill>
                <a:latin typeface="Trebuchet MS" panose="020B0603020202020204" pitchFamily="34" charset="0"/>
              </a:defRPr>
            </a:lvl1pPr>
            <a:lvl2pPr>
              <a:defRPr sz="1800">
                <a:solidFill>
                  <a:srgbClr val="FFFFFF"/>
                </a:solidFill>
                <a:latin typeface="Trebuchet MS" panose="020B0603020202020204" pitchFamily="34" charset="0"/>
              </a:defRPr>
            </a:lvl2pPr>
            <a:lvl3pPr>
              <a:defRPr sz="1600">
                <a:solidFill>
                  <a:srgbClr val="FFFFFF"/>
                </a:solidFill>
                <a:latin typeface="Trebuchet MS" panose="020B0603020202020204" pitchFamily="34" charset="0"/>
              </a:defRPr>
            </a:lvl3pPr>
            <a:lvl4pPr>
              <a:defRPr sz="1400">
                <a:solidFill>
                  <a:srgbClr val="FFFFFF"/>
                </a:solidFill>
                <a:latin typeface="Trebuchet MS" panose="020B0603020202020204" pitchFamily="34" charset="0"/>
              </a:defRPr>
            </a:lvl4pPr>
            <a:lvl5pPr>
              <a:defRPr sz="1400">
                <a:solidFill>
                  <a:srgbClr val="FFFFFF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D957018-3173-9582-5A43-D1DDF78DAF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33" y="138071"/>
            <a:ext cx="2289900" cy="5650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BDF4083-28BD-1D5C-C4AF-CA6B701AB0E7}"/>
              </a:ext>
            </a:extLst>
          </p:cNvPr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656683" y="2035384"/>
            <a:ext cx="891799" cy="1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7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square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7B13C004-12D7-A446-FF49-984FF45F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8106EA1-EE6B-3CEE-62F6-FF4ABFB13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1AD9FF-221E-8789-4CAF-32F86519A7BE}"/>
              </a:ext>
            </a:extLst>
          </p:cNvPr>
          <p:cNvSpPr/>
          <p:nvPr userDrawn="1"/>
        </p:nvSpPr>
        <p:spPr>
          <a:xfrm>
            <a:off x="4445997" y="1968140"/>
            <a:ext cx="3300005" cy="4023361"/>
          </a:xfrm>
          <a:prstGeom prst="roundRect">
            <a:avLst/>
          </a:prstGeom>
          <a:solidFill>
            <a:srgbClr val="001C2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041714-4193-2406-DF5B-D3DCB757C2B2}"/>
              </a:ext>
            </a:extLst>
          </p:cNvPr>
          <p:cNvSpPr/>
          <p:nvPr userDrawn="1"/>
        </p:nvSpPr>
        <p:spPr>
          <a:xfrm>
            <a:off x="846908" y="1968139"/>
            <a:ext cx="3300005" cy="4023361"/>
          </a:xfrm>
          <a:prstGeom prst="roundRect">
            <a:avLst/>
          </a:prstGeom>
          <a:solidFill>
            <a:srgbClr val="022B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252E8AD-42D1-6BF5-958F-CE687CDB8E9A}"/>
              </a:ext>
            </a:extLst>
          </p:cNvPr>
          <p:cNvSpPr/>
          <p:nvPr userDrawn="1"/>
        </p:nvSpPr>
        <p:spPr>
          <a:xfrm>
            <a:off x="8045086" y="1968138"/>
            <a:ext cx="3300005" cy="4023361"/>
          </a:xfrm>
          <a:prstGeom prst="roundRect">
            <a:avLst/>
          </a:prstGeom>
          <a:solidFill>
            <a:srgbClr val="D2D7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38A1DE7-BA42-595C-301F-9AE76BFF4412}"/>
              </a:ext>
            </a:extLst>
          </p:cNvPr>
          <p:cNvSpPr/>
          <p:nvPr userDrawn="1"/>
        </p:nvSpPr>
        <p:spPr>
          <a:xfrm>
            <a:off x="1882956" y="1393375"/>
            <a:ext cx="1227909" cy="12104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090A1"/>
                </a:solidFill>
              </a:rPr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2234CFC-A0D7-840A-95E5-073E0FF19C89}"/>
              </a:ext>
            </a:extLst>
          </p:cNvPr>
          <p:cNvSpPr/>
          <p:nvPr userDrawn="1"/>
        </p:nvSpPr>
        <p:spPr>
          <a:xfrm>
            <a:off x="5482045" y="1393375"/>
            <a:ext cx="1227909" cy="12104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90A1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C8E90F9-FB41-790C-82CF-83600ACD02E3}"/>
              </a:ext>
            </a:extLst>
          </p:cNvPr>
          <p:cNvSpPr/>
          <p:nvPr userDrawn="1"/>
        </p:nvSpPr>
        <p:spPr>
          <a:xfrm>
            <a:off x="9081133" y="1393375"/>
            <a:ext cx="1227909" cy="12104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90A1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3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0B424CC-1DC0-519B-B8F9-2439A0FDB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0982" y="2852655"/>
            <a:ext cx="3069795" cy="27905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911C451-D40A-FB1F-1277-6DCB5C3A13A3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4561101" y="2852655"/>
            <a:ext cx="3069795" cy="27905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076E1F5-B5C9-C309-C461-0B8CFAF9B21B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0189" y="2852655"/>
            <a:ext cx="3069795" cy="27905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4DA2E8E-5619-723D-7B9E-569EC19E55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33" y="6245925"/>
            <a:ext cx="2289900" cy="5650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9AEA03-D3EF-45E6-6179-36630B639811}"/>
              </a:ext>
            </a:extLst>
          </p:cNvPr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656683" y="2035384"/>
            <a:ext cx="891799" cy="1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8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2092-6F92-5D87-AA8D-1895703D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10679-35FD-A3D2-1EE8-F174ABF0B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29179"/>
            <a:ext cx="5181600" cy="48477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22B7D-89DE-E2C0-F162-2C28E3FD9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29179"/>
            <a:ext cx="5181600" cy="48477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DF88C99-30DA-BAF1-F0FF-61B686CB8FB4}"/>
              </a:ext>
            </a:extLst>
          </p:cNvPr>
          <p:cNvSpPr txBox="1">
            <a:spLocks/>
          </p:cNvSpPr>
          <p:nvPr userDrawn="1"/>
        </p:nvSpPr>
        <p:spPr>
          <a:xfrm>
            <a:off x="11399019" y="6372498"/>
            <a:ext cx="51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836D8-5884-4E87-8BBE-1099CD100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14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CDDDE-363E-30C2-946A-F3964976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F9308-C6E6-31BE-C03C-57891217A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964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98D8D-D9D8-5132-4DCB-2E7247048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77592"/>
            <a:ext cx="5157787" cy="40120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90BDF5-5EBC-17B8-4845-F37308112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964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2D5861-4B80-0FC1-653B-DC55C0C9DB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77592"/>
            <a:ext cx="5183188" cy="40120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3D60A33-9A22-4112-4B7B-681943D6E0B0}"/>
              </a:ext>
            </a:extLst>
          </p:cNvPr>
          <p:cNvSpPr txBox="1">
            <a:spLocks/>
          </p:cNvSpPr>
          <p:nvPr userDrawn="1"/>
        </p:nvSpPr>
        <p:spPr>
          <a:xfrm>
            <a:off x="11399019" y="6372498"/>
            <a:ext cx="51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836D8-5884-4E87-8BBE-1099CD100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92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08395-2A40-32E1-3A4B-6AB6A2FF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239DD-3AFE-D95E-4A0F-A1BE7D8EB5B6}"/>
              </a:ext>
            </a:extLst>
          </p:cNvPr>
          <p:cNvSpPr txBox="1">
            <a:spLocks/>
          </p:cNvSpPr>
          <p:nvPr userDrawn="1"/>
        </p:nvSpPr>
        <p:spPr>
          <a:xfrm>
            <a:off x="11399019" y="6372498"/>
            <a:ext cx="51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836D8-5884-4E87-8BBE-1099CD100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39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9C75FD-D6AE-FC48-FBEE-7FA23437FF58}"/>
              </a:ext>
            </a:extLst>
          </p:cNvPr>
          <p:cNvSpPr txBox="1">
            <a:spLocks/>
          </p:cNvSpPr>
          <p:nvPr userDrawn="1"/>
        </p:nvSpPr>
        <p:spPr>
          <a:xfrm>
            <a:off x="11399019" y="6372498"/>
            <a:ext cx="51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836D8-5884-4E87-8BBE-1099CD100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983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840C-E5A2-36D9-EBEF-1D70F727C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E1C63-0BFD-CEEE-22B0-53807319B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>
                <a:solidFill>
                  <a:srgbClr val="324B4F"/>
                </a:solidFill>
              </a:defRPr>
            </a:lvl1pPr>
            <a:lvl2pPr>
              <a:defRPr sz="2400">
                <a:solidFill>
                  <a:srgbClr val="324B4F"/>
                </a:solidFill>
              </a:defRPr>
            </a:lvl2pPr>
            <a:lvl3pPr>
              <a:defRPr sz="2000">
                <a:solidFill>
                  <a:srgbClr val="324B4F"/>
                </a:solidFill>
              </a:defRPr>
            </a:lvl3pPr>
            <a:lvl4pPr>
              <a:defRPr sz="1800">
                <a:solidFill>
                  <a:srgbClr val="324B4F"/>
                </a:solidFill>
              </a:defRPr>
            </a:lvl4pPr>
            <a:lvl5pPr>
              <a:defRPr sz="1800">
                <a:solidFill>
                  <a:srgbClr val="324B4F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7D92C-EA34-1F54-DC17-BABEFC40D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324B4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73F0193-768B-77E4-FE1D-F83AC7B63C65}"/>
              </a:ext>
            </a:extLst>
          </p:cNvPr>
          <p:cNvSpPr txBox="1">
            <a:spLocks/>
          </p:cNvSpPr>
          <p:nvPr userDrawn="1"/>
        </p:nvSpPr>
        <p:spPr>
          <a:xfrm>
            <a:off x="11399019" y="6372498"/>
            <a:ext cx="51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836D8-5884-4E87-8BBE-1099CD100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94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AFC4-B12D-8EFD-9808-6632A0666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256212" cy="8882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460FEF-A87C-05C7-7D5D-7B3738C65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8366" y="987425"/>
            <a:ext cx="4837021" cy="4873625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C3FB0-2EEC-3C48-CD0F-341100DE7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41417"/>
            <a:ext cx="5256212" cy="4327571"/>
          </a:xfrm>
        </p:spPr>
        <p:txBody>
          <a:bodyPr>
            <a:normAutofit/>
          </a:bodyPr>
          <a:lstStyle>
            <a:lvl1pPr marL="0" indent="0">
              <a:buNone/>
              <a:defRPr sz="2300">
                <a:solidFill>
                  <a:srgbClr val="324B4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7031509-97DB-7E42-5899-C9FB786E8EE4}"/>
              </a:ext>
            </a:extLst>
          </p:cNvPr>
          <p:cNvSpPr txBox="1">
            <a:spLocks/>
          </p:cNvSpPr>
          <p:nvPr userDrawn="1"/>
        </p:nvSpPr>
        <p:spPr>
          <a:xfrm>
            <a:off x="11399019" y="6372498"/>
            <a:ext cx="51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836D8-5884-4E87-8BBE-1099CD100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022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C4D56-A6C9-0D85-279A-94ACFDFE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625CB-6DF8-3F3C-A49A-0BCCAD0A6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A482E81-9166-5721-9A3E-F118FA361D72}"/>
              </a:ext>
            </a:extLst>
          </p:cNvPr>
          <p:cNvSpPr txBox="1">
            <a:spLocks/>
          </p:cNvSpPr>
          <p:nvPr userDrawn="1"/>
        </p:nvSpPr>
        <p:spPr>
          <a:xfrm>
            <a:off x="11399019" y="6372498"/>
            <a:ext cx="51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836D8-5884-4E87-8BBE-1099CD100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488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3A966-1C04-2275-D99C-30561C24A1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6FD2C-1E7A-E3AE-2F3B-C8A6D90AA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382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859B951-4B1B-304E-A55E-587DF2759F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AC045D-6F93-473E-60D4-3293E7C83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AE81A-C6AD-0F94-09E3-30E15AEDF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606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067C3-56C9-CFE1-5DEA-FF9960DA5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324B4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59AB7-815A-8372-226C-4D8235987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60988"/>
            <a:ext cx="377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5AC836D8-5884-4E87-8BBE-1099CD100D0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B7F962A9-F2A0-E716-83FB-C22358AB1D61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4" y="6340576"/>
            <a:ext cx="2237173" cy="4644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B39A97-801C-596F-E9BC-55112EF7C85E}"/>
              </a:ext>
            </a:extLst>
          </p:cNvPr>
          <p:cNvPicPr/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656683" y="2035384"/>
            <a:ext cx="891799" cy="1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0" r:id="rId4"/>
    <p:sldLayoutId id="2147483663" r:id="rId5"/>
    <p:sldLayoutId id="2147483662" r:id="rId6"/>
    <p:sldLayoutId id="2147483664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5A70"/>
          </a:solidFill>
          <a:latin typeface="Trebuchet MS" panose="020B06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visualstudio.microsoft.com/downloads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fundamentals/openapi/using-openapi-documents?view=aspnetcore-10.0" TargetMode="External"/><Relationship Id="rId2" Type="http://schemas.openxmlformats.org/officeDocument/2006/relationships/hyperlink" Target="https://localhost:7292/openapi/v1.json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localhost:7292/swagger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6.emf"/><Relationship Id="rId4" Type="http://schemas.openxmlformats.org/officeDocument/2006/relationships/oleObject" Target="../embeddings/oleObject4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CA79-37B2-F11B-43F2-20F1838D7C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/>
              <a:t>API Development</a:t>
            </a:r>
            <a:r>
              <a:rPr lang="en-US" dirty="0"/>
              <a:t>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31C36E-2666-BB69-9BB8-7A31394149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API Training Course for Students at King Mongkut’s University of Technology North Bangkok (KMUTNB)</a:t>
            </a:r>
          </a:p>
        </p:txBody>
      </p:sp>
    </p:spTree>
    <p:extLst>
      <p:ext uri="{BB962C8B-B14F-4D97-AF65-F5344CB8AC3E}">
        <p14:creationId xmlns:p14="http://schemas.microsoft.com/office/powerpoint/2010/main" val="29852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1BCEE-2C15-1A3F-E5E0-2F5E66CF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1EDE3-37B0-B440-425F-814A4D106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Session 1:Building RESTful API </a:t>
            </a:r>
          </a:p>
          <a:p>
            <a:pPr lvl="1"/>
            <a:r>
              <a:rPr lang="en-US" dirty="0"/>
              <a:t>Introduction &amp; Setup </a:t>
            </a:r>
          </a:p>
          <a:p>
            <a:pPr lvl="1"/>
            <a:r>
              <a:rPr lang="en-US" dirty="0"/>
              <a:t>Create Project and Project structure</a:t>
            </a:r>
          </a:p>
          <a:p>
            <a:pPr lvl="1"/>
            <a:r>
              <a:rPr lang="en-US" dirty="0"/>
              <a:t>APIs Document Swagger</a:t>
            </a:r>
          </a:p>
          <a:p>
            <a:pPr lvl="1"/>
            <a:r>
              <a:rPr lang="en-US" dirty="0"/>
              <a:t>In-Memory Data Store</a:t>
            </a:r>
          </a:p>
          <a:p>
            <a:pPr lvl="1"/>
            <a:r>
              <a:rPr lang="en-US" dirty="0"/>
              <a:t>Implementing CRUD Operations</a:t>
            </a:r>
          </a:p>
          <a:p>
            <a:pPr lvl="1"/>
            <a:r>
              <a:rPr lang="en-US" dirty="0"/>
              <a:t>Input Validation</a:t>
            </a:r>
          </a:p>
          <a:p>
            <a:pPr lvl="1"/>
            <a:r>
              <a:rPr lang="en-US" dirty="0"/>
              <a:t>Testing with Swagger &amp; Postman</a:t>
            </a:r>
          </a:p>
          <a:p>
            <a:r>
              <a:rPr lang="en-US" dirty="0"/>
              <a:t>Session 2: JWT Authentication Development</a:t>
            </a:r>
          </a:p>
          <a:p>
            <a:pPr lvl="1"/>
            <a:r>
              <a:rPr lang="en-US" dirty="0"/>
              <a:t>Introduction to Authentication</a:t>
            </a:r>
          </a:p>
          <a:p>
            <a:pPr lvl="1"/>
            <a:r>
              <a:rPr lang="en-US" dirty="0"/>
              <a:t>Project Setup &amp; Dependencies</a:t>
            </a:r>
          </a:p>
          <a:p>
            <a:pPr lvl="1"/>
            <a:r>
              <a:rPr lang="en-US" dirty="0"/>
              <a:t>Updating User Model</a:t>
            </a:r>
          </a:p>
          <a:p>
            <a:pPr lvl="1"/>
            <a:r>
              <a:rPr lang="en-US" dirty="0"/>
              <a:t>Creating Services </a:t>
            </a:r>
          </a:p>
          <a:p>
            <a:pPr lvl="1"/>
            <a:r>
              <a:rPr lang="en-US" dirty="0"/>
              <a:t>Configuring JWT Authentication</a:t>
            </a:r>
          </a:p>
          <a:p>
            <a:pPr lvl="1"/>
            <a:r>
              <a:rPr lang="en-US" dirty="0"/>
              <a:t>Implementing Auth Endpoints</a:t>
            </a:r>
          </a:p>
          <a:p>
            <a:pPr lvl="1"/>
            <a:r>
              <a:rPr lang="en-US" dirty="0"/>
              <a:t>Testing Authentication</a:t>
            </a:r>
          </a:p>
          <a:p>
            <a:r>
              <a:rPr lang="en-US" dirty="0"/>
              <a:t>Session 3: CORS</a:t>
            </a:r>
          </a:p>
          <a:p>
            <a:pPr lvl="1"/>
            <a:r>
              <a:rPr lang="en-US" dirty="0"/>
              <a:t>Understanding CORS</a:t>
            </a:r>
          </a:p>
          <a:p>
            <a:pPr lvl="1"/>
            <a:r>
              <a:rPr lang="en-US" dirty="0"/>
              <a:t>Configuring CORS in .NET</a:t>
            </a:r>
          </a:p>
          <a:p>
            <a:pPr lvl="1"/>
            <a:r>
              <a:rPr lang="en-US" dirty="0"/>
              <a:t>Creating Frontend Test Pages</a:t>
            </a:r>
          </a:p>
          <a:p>
            <a:pPr lvl="1"/>
            <a:r>
              <a:rPr lang="en-US" dirty="0"/>
              <a:t>Testing CORS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63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F6711-F58A-5AC9-F4BC-59EAB2BD7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6797" y="2116183"/>
            <a:ext cx="9021201" cy="1312817"/>
          </a:xfrm>
        </p:spPr>
        <p:txBody>
          <a:bodyPr/>
          <a:lstStyle/>
          <a:p>
            <a:r>
              <a:rPr lang="en-US" dirty="0"/>
              <a:t>Session 1:Building RESTful API</a:t>
            </a:r>
          </a:p>
        </p:txBody>
      </p:sp>
    </p:spTree>
    <p:extLst>
      <p:ext uri="{BB962C8B-B14F-4D97-AF65-F5344CB8AC3E}">
        <p14:creationId xmlns:p14="http://schemas.microsoft.com/office/powerpoint/2010/main" val="224881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7ECDA-0665-7781-86B8-464EE5D83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C378-B7B8-BEBD-ABA7-562B6C836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Setup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BD3B9-8D8C-4ED4-8292-2C544BA21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ติดตั้ง </a:t>
            </a:r>
            <a:r>
              <a:rPr lang="en-US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Visual Studio 2026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ดาวน์โหลด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Visual Studio 2026 Community (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ฟรี) จาก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  <a:hlinkClick r:id="rId2"/>
              </a:rPr>
              <a:t>https://visualstudio.microsoft.com/downloads/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ติดตั้ง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Visual Studio 2026</a:t>
            </a:r>
          </a:p>
          <a:p>
            <a:pPr marL="0" indent="0">
              <a:buNone/>
            </a:pP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ในขั้นตอนการติดตั้ง เลือก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Workload: **ASP.NET and web development**</a:t>
            </a:r>
          </a:p>
          <a:p>
            <a:pPr marL="0" indent="0">
              <a:buNone/>
            </a:pP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4.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รอให้ติดตั้งเสร็จ</a:t>
            </a:r>
          </a:p>
          <a:p>
            <a:pPr marL="0" indent="0"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5. เปิด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Visual Studio 2026</a:t>
            </a:r>
          </a:p>
          <a:p>
            <a:pPr marL="0" indent="0">
              <a:buNone/>
            </a:pP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6.Git</a:t>
            </a:r>
          </a:p>
          <a:p>
            <a:pPr marL="0" indent="0">
              <a:buNone/>
            </a:pP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7.Postman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65952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BF4A6-EBA3-7329-EEDE-DA75EA0B2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A0B6A-499B-0628-1DA3-AB6030AB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Setup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3B775-FF64-DBF7-FD68-A8E81F327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82" y="1144589"/>
            <a:ext cx="4009951" cy="2323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5D4D2B-6B9A-24C3-F0C2-B07BAE232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19" y="3863608"/>
            <a:ext cx="4032898" cy="2323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1A6EF6-B360-FA31-20EC-A59755A3B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00" y="1866991"/>
            <a:ext cx="6392700" cy="348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9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9AB1B-0EC3-0F8B-E052-F21937C72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2B173-ADE4-1D88-0996-934A4186A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Create Project and Project structure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AAD7542-59E2-88A6-6C33-380B7E64AEF9}"/>
              </a:ext>
            </a:extLst>
          </p:cNvPr>
          <p:cNvGrpSpPr/>
          <p:nvPr/>
        </p:nvGrpSpPr>
        <p:grpSpPr>
          <a:xfrm>
            <a:off x="838200" y="1319681"/>
            <a:ext cx="5672279" cy="1971117"/>
            <a:chOff x="952499" y="1638858"/>
            <a:chExt cx="5672279" cy="197111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8EEDFBF-4981-DEF7-ADC1-3D86ACD66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2499" y="1638858"/>
              <a:ext cx="5672279" cy="1971117"/>
            </a:xfrm>
            <a:prstGeom prst="rect">
              <a:avLst/>
            </a:prstGeom>
            <a:noFill/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05A912-29E1-06C5-A97E-FAF892D4BFFA}"/>
                </a:ext>
              </a:extLst>
            </p:cNvPr>
            <p:cNvSpPr/>
            <p:nvPr/>
          </p:nvSpPr>
          <p:spPr>
            <a:xfrm>
              <a:off x="5167224" y="2130724"/>
              <a:ext cx="1199070" cy="35368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CD2A025-B17C-4A52-3F24-516DD01422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41"/>
          <a:stretch>
            <a:fillRect/>
          </a:stretch>
        </p:blipFill>
        <p:spPr>
          <a:xfrm>
            <a:off x="856942" y="3429000"/>
            <a:ext cx="5395053" cy="17265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ABB7C9-7A62-9DD5-E007-7C1091285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648" y="1319681"/>
            <a:ext cx="4923874" cy="338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23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46029-70D9-9E76-D8D4-A37BBE7F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0E086-7713-9405-9902-EDCD2C80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/>
              <a:t>Create Project and Project structure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216F84-C852-DB38-0020-7BC5E7A3F636}"/>
              </a:ext>
            </a:extLst>
          </p:cNvPr>
          <p:cNvGrpSpPr/>
          <p:nvPr/>
        </p:nvGrpSpPr>
        <p:grpSpPr>
          <a:xfrm>
            <a:off x="1475146" y="1144588"/>
            <a:ext cx="7660227" cy="4978131"/>
            <a:chOff x="1061078" y="1207699"/>
            <a:chExt cx="7660227" cy="49781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52EC5FF-1937-4E64-BA65-45AC08A1E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1078" y="1207699"/>
              <a:ext cx="7660227" cy="4978131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A0BC76-4A09-EB29-0AF3-066B0B4948A9}"/>
                </a:ext>
              </a:extLst>
            </p:cNvPr>
            <p:cNvSpPr/>
            <p:nvPr/>
          </p:nvSpPr>
          <p:spPr>
            <a:xfrm>
              <a:off x="1061078" y="1906438"/>
              <a:ext cx="3976748" cy="4485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A554A67-C6AD-1A38-C31E-AC1502287219}"/>
                </a:ext>
              </a:extLst>
            </p:cNvPr>
            <p:cNvSpPr/>
            <p:nvPr/>
          </p:nvSpPr>
          <p:spPr>
            <a:xfrm>
              <a:off x="7832783" y="5883906"/>
              <a:ext cx="888522" cy="3019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2925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6C4AE-D5B2-61E6-EA81-0B376A04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214F-9152-8DD0-A9C4-D6650D764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/>
              <a:t>Create Project and Project structure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2E3E9-86BA-2A35-9E27-DF8D614DE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01" y="1221649"/>
            <a:ext cx="4018498" cy="4831489"/>
          </a:xfrm>
          <a:prstGeom prst="rect">
            <a:avLst/>
          </a:prstGeom>
          <a:noFill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336231B-CF11-8F86-1A24-BFF2C68CE2B2}"/>
              </a:ext>
            </a:extLst>
          </p:cNvPr>
          <p:cNvSpPr txBox="1"/>
          <p:nvPr/>
        </p:nvSpPr>
        <p:spPr>
          <a:xfrm>
            <a:off x="5429226" y="1221649"/>
            <a:ext cx="5178021" cy="19005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Controllers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: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จัดการ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 requests/responses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business logic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Program.cs</a:t>
            </a: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ตั้งค่าและเริ่มต้นแอปพลิเคชัน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, middleware 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appsettings.json</a:t>
            </a: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Configuration file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database connection,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         environment</a:t>
            </a:r>
          </a:p>
        </p:txBody>
      </p:sp>
    </p:spTree>
    <p:extLst>
      <p:ext uri="{BB962C8B-B14F-4D97-AF65-F5344CB8AC3E}">
        <p14:creationId xmlns:p14="http://schemas.microsoft.com/office/powerpoint/2010/main" val="2245888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56D0B-516D-C07A-1D53-04E7EF59F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4CF20-2D39-BD99-276F-C72F0586C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/>
              <a:t>Create Project and Project structure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4CC031-6136-19E9-498A-CEE9B9119281}"/>
              </a:ext>
            </a:extLst>
          </p:cNvPr>
          <p:cNvGrpSpPr/>
          <p:nvPr/>
        </p:nvGrpSpPr>
        <p:grpSpPr>
          <a:xfrm>
            <a:off x="604064" y="1495729"/>
            <a:ext cx="6068972" cy="3586419"/>
            <a:chOff x="604064" y="1495729"/>
            <a:chExt cx="6068972" cy="358641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3AEF8B7-A08C-EC09-165C-9DB3D0432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4064" y="1495729"/>
              <a:ext cx="6068972" cy="358641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0877660-7690-33B9-7487-DD3D43BC3C10}"/>
                </a:ext>
              </a:extLst>
            </p:cNvPr>
            <p:cNvSpPr/>
            <p:nvPr/>
          </p:nvSpPr>
          <p:spPr>
            <a:xfrm>
              <a:off x="3082685" y="1617094"/>
              <a:ext cx="628650" cy="1714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AA5371-3B3A-8378-B3C2-E4D52D78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494" y="1504951"/>
            <a:ext cx="4530306" cy="3577198"/>
          </a:xfrm>
        </p:spPr>
        <p:txBody>
          <a:bodyPr>
            <a:normAutofit/>
          </a:bodyPr>
          <a:lstStyle/>
          <a:p>
            <a:pPr marL="342900" indent="-342900"/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กดปุ่มคีย์ลัด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F5 (debug)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เพื่อเริ่มการทำงานของระบบ</a:t>
            </a:r>
          </a:p>
          <a:p>
            <a:pPr marL="342900" indent="-342900"/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หรือกด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Ctrl+F5 (without debug) </a:t>
            </a:r>
          </a:p>
          <a:p>
            <a:pPr marL="342900" indent="-342900"/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**หมายเหตุ:**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URL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อาจเป็น `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https://localhost:5001` </a:t>
            </a:r>
          </a:p>
          <a:p>
            <a:pPr marL="0" indent="0">
              <a:buNone/>
            </a:pP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`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https://localhost:7xxx`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ขึ้นอยู่กับการตั้งค่าที่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launchSettings.json</a:t>
            </a:r>
            <a:endParaRPr lang="en-US" sz="1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13275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56244-7B22-036A-5806-D2C67887F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F51BF-46F6-2F7F-E60D-541623219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APIs Document Swagger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B54245-288F-12DA-64F8-07AB8E1E9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7057" y="1504950"/>
            <a:ext cx="6436743" cy="4102219"/>
          </a:xfrm>
        </p:spPr>
        <p:txBody>
          <a:bodyPr>
            <a:normAutofit fontScale="62500" lnSpcReduction="20000"/>
          </a:bodyPr>
          <a:lstStyle/>
          <a:p>
            <a:pPr marL="342900" indent="-342900"/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โดยปกติ 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.net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10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จะมี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APIs Document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ซึ่งเข้าจากลิ้ง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  <a:hlinkClick r:id="rId2"/>
              </a:rPr>
              <a:t>https://localhost:7292/openapi/v1.json</a:t>
            </a:r>
            <a:endParaRPr lang="th-TH" sz="1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/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เพิ่มความสวยงามด้วย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Swagger UI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โดยการเพิ่ม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extension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ไปที่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“Manage 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nuget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package”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ไปที่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tab Browse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และค้นหา 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“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Swashbuckle.AspNetCore.SwaggerUI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”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กด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install</a:t>
            </a:r>
          </a:p>
          <a:p>
            <a:pPr marL="342900" indent="-342900"/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ไปที่ไฟล์  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Program.cs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และเพิ่ม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code</a:t>
            </a:r>
            <a:endParaRPr lang="th-TH" sz="1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* *** 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builder.Services.AddOpenApi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(options =&gt;</a:t>
            </a:r>
          </a:p>
          <a:p>
            <a:pPr marL="0" indent="0"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// Specify the 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OpenAPI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version to use</a:t>
            </a:r>
          </a:p>
          <a:p>
            <a:pPr marL="0" indent="0"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options.OpenApiVersion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 Microsoft.OpenApi.OpenApiSpecVersion.OpenApi3_0;</a:t>
            </a:r>
          </a:p>
          <a:p>
            <a:pPr marL="0" indent="0"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});</a:t>
            </a:r>
          </a:p>
          <a:p>
            <a:pPr marL="0" indent="0">
              <a:buNone/>
            </a:pP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app.UseSwaggerUI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(options =&gt;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options.SwaggerEndpoint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("/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openapi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/v1.json", "v1");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});</a:t>
            </a:r>
          </a:p>
          <a:p>
            <a:pPr marL="0" indent="0">
              <a:buNone/>
            </a:pPr>
            <a:endParaRPr lang="en-US" sz="1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800" dirty="0">
                <a:hlinkClick r:id="rId3"/>
              </a:rPr>
              <a:t>Use the generated </a:t>
            </a:r>
            <a:r>
              <a:rPr lang="en-US" sz="1800" dirty="0" err="1">
                <a:hlinkClick r:id="rId3"/>
              </a:rPr>
              <a:t>OpenAPI</a:t>
            </a:r>
            <a:r>
              <a:rPr lang="en-US" sz="1800" dirty="0">
                <a:hlinkClick r:id="rId3"/>
              </a:rPr>
              <a:t> documents | Microsoft Learn</a:t>
            </a:r>
            <a:endParaRPr lang="en-US" sz="1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C93CA3-B34F-A7AF-5832-D866C203C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51" y="1266256"/>
            <a:ext cx="4237528" cy="360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06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71537-BDF7-E581-D01D-8231F0997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AC072-6D00-05B0-F736-0A3ECAA3C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APIs Document Swagger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9112F0-E2DA-20AD-2F7C-668A45D36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8657" y="1592791"/>
            <a:ext cx="5065143" cy="4014378"/>
          </a:xfrm>
        </p:spPr>
        <p:txBody>
          <a:bodyPr>
            <a:normAutofit/>
          </a:bodyPr>
          <a:lstStyle/>
          <a:p>
            <a:pPr marL="342900" indent="-342900"/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เข้าสู่ลิ้ง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  <a:hlinkClick r:id="rId2"/>
              </a:rPr>
              <a:t>https://localhost:7292/swagger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จะเปิดสู่หน้าจอ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Swagger</a:t>
            </a:r>
          </a:p>
          <a:p>
            <a:pPr marL="342900" indent="-342900"/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ถ้าต้องการกำหนด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default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เพื่อเปิดหน้า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swagger UI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ทุกครั้งที่รันโปรแกรม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สามารถไปที่ไฟล์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launchSettings.json</a:t>
            </a:r>
            <a:endParaRPr lang="th-TH" sz="1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/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เพิ่มไว้ใน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section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ที่เราใช้ในการรันโปรแกรม และกดรันโปรแกรมอีกครั้ง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"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launchBrowser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": true,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"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launchUrl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": "swagger",</a:t>
            </a:r>
          </a:p>
          <a:p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กดเรียก 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api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ผ่านหน้า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Swagger UI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A0C770-65DC-12F3-D016-93D870E26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97" y="1592791"/>
            <a:ext cx="5739442" cy="272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11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C9C2-6D7D-A1B1-5722-A03F1EEE4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FE617-8EC6-1C3E-4A6C-52BD558AE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/>
              <a:t>In-Memory Data Store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DDCC97-2BF4-9604-CA6E-1C9C6A0A973A}"/>
              </a:ext>
            </a:extLst>
          </p:cNvPr>
          <p:cNvSpPr txBox="1">
            <a:spLocks/>
          </p:cNvSpPr>
          <p:nvPr/>
        </p:nvSpPr>
        <p:spPr>
          <a:xfrm>
            <a:off x="1173192" y="1524699"/>
            <a:ext cx="4278701" cy="31163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h-TH" sz="1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**หลักการ </a:t>
            </a:r>
            <a:r>
              <a:rPr lang="en-US" sz="1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Naming:**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ใช้ **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lowercase**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สำหรับคำเดียว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 ใช้ **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snake_case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 (underscore)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สำหรับหลายคำ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 ใช้ `[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JsonPropertyName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]`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เพื่อกำหนดชื่อใน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JSON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03B699-2B16-332D-59F7-AD6BE7CD84F5}"/>
              </a:ext>
            </a:extLst>
          </p:cNvPr>
          <p:cNvSpPr txBox="1">
            <a:spLocks/>
          </p:cNvSpPr>
          <p:nvPr/>
        </p:nvSpPr>
        <p:spPr>
          <a:xfrm>
            <a:off x="5845834" y="1524698"/>
            <a:ext cx="3996906" cy="3375105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</a:t>
            </a:r>
            <a:r>
              <a:rPr lang="th-TH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 </a:t>
            </a: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JSON Response:**</a:t>
            </a:r>
          </a:p>
          <a:p>
            <a:pPr marL="0" indent="0">
              <a:buNone/>
            </a:pP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```</a:t>
            </a:r>
            <a:r>
              <a:rPr lang="en-US" sz="1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json</a:t>
            </a:r>
            <a:endParaRPr lang="en-US" sz="1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</a:t>
            </a:r>
          </a:p>
          <a:p>
            <a:pPr marL="0" indent="0">
              <a:buNone/>
            </a:pP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"id": 1,</a:t>
            </a:r>
          </a:p>
          <a:p>
            <a:pPr marL="0" indent="0">
              <a:buNone/>
            </a:pP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"username": "</a:t>
            </a:r>
            <a:r>
              <a:rPr lang="en-US" sz="1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john_doe</a:t>
            </a: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",</a:t>
            </a:r>
          </a:p>
          <a:p>
            <a:pPr marL="0" indent="0">
              <a:buNone/>
            </a:pP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"email": "john@example.com",</a:t>
            </a:r>
          </a:p>
          <a:p>
            <a:pPr marL="0" indent="0">
              <a:buNone/>
            </a:pP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"</a:t>
            </a:r>
            <a:r>
              <a:rPr lang="en-US" sz="1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created_at</a:t>
            </a: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": "2024-01-15T10:30:00Z"</a:t>
            </a:r>
          </a:p>
          <a:p>
            <a:pPr marL="0" indent="0">
              <a:buNone/>
            </a:pP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}</a:t>
            </a:r>
          </a:p>
          <a:p>
            <a:pPr marL="0" indent="0">
              <a:buNone/>
            </a:pP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100551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B59F6-A3F5-6C96-AFF1-3C51BFCD7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1A618-DBCA-1819-529F-ED1E381A3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/>
              <a:t>In-Memory Data Store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361230-9CC1-549D-87E1-1D0A9A985F75}"/>
              </a:ext>
            </a:extLst>
          </p:cNvPr>
          <p:cNvSpPr txBox="1">
            <a:spLocks/>
          </p:cNvSpPr>
          <p:nvPr/>
        </p:nvSpPr>
        <p:spPr>
          <a:xfrm>
            <a:off x="1173192" y="1524699"/>
            <a:ext cx="4278701" cy="3116312"/>
          </a:xfrm>
          <a:prstGeom prst="rect">
            <a:avLst/>
          </a:prstGeom>
          <a:ln>
            <a:solidFill>
              <a:srgbClr val="022B39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h-TH" sz="1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สร้างโฟลเดอร์ </a:t>
            </a:r>
            <a:r>
              <a:rPr lang="en-US" sz="1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Models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**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Solution Explorer**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คลิกขวาที่โปรเจกต์ `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WorkshopAPI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`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 **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Add** → **New Folder**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ตั้งชื่อ: `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Models`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4.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กด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Enter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A8A290-1A98-6454-305C-EFF64603E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353" y="1441945"/>
            <a:ext cx="2802283" cy="319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691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72265-8807-01C2-7A31-C27ABB15B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8694-305C-4901-13E4-651F97330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/>
              <a:t>In-Memory Data Store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EBC5E-5E4A-5EDD-AA0A-8CC2ABF486DB}"/>
              </a:ext>
            </a:extLst>
          </p:cNvPr>
          <p:cNvSpPr txBox="1">
            <a:spLocks/>
          </p:cNvSpPr>
          <p:nvPr/>
        </p:nvSpPr>
        <p:spPr>
          <a:xfrm>
            <a:off x="1015042" y="1688600"/>
            <a:ext cx="3660476" cy="2659113"/>
          </a:xfrm>
          <a:prstGeom prst="rect">
            <a:avLst/>
          </a:prstGeom>
          <a:ln>
            <a:solidFill>
              <a:srgbClr val="022B39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h-TH" sz="1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สร้างไฟล์ </a:t>
            </a:r>
            <a:r>
              <a:rPr lang="en-US" sz="1800" b="1" u="sng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User.cs</a:t>
            </a:r>
            <a:endParaRPr lang="en-US" sz="1800" b="1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คลิกขวาที่โฟลเดอร์ `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Models`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 **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Add** → **Class...**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ตั้งชื่อ: `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User`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4.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คลิก **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Add**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28DE39-CD25-E9A9-6283-F6FE994CFC7D}"/>
              </a:ext>
            </a:extLst>
          </p:cNvPr>
          <p:cNvSpPr txBox="1">
            <a:spLocks/>
          </p:cNvSpPr>
          <p:nvPr/>
        </p:nvSpPr>
        <p:spPr>
          <a:xfrm>
            <a:off x="5066581" y="1688599"/>
            <a:ext cx="6110377" cy="4703575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h-TH" sz="1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 </a:t>
            </a:r>
            <a:r>
              <a:rPr lang="en-US" sz="1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Code </a:t>
            </a:r>
            <a:r>
              <a:rPr lang="th-TH" sz="1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ส่วนนี้เข้าไปในไฟล์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public class User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[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JsonPropertyName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("id")]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public int Id { get; set; }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[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JsonPropertyName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("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user_name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public string Username { get; set; } = 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string.Empty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[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JsonPropertyName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("email")]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public string Email { get; set; } = 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string.Empty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[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JsonPropertyName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("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created_at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public 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DateTime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CreatedAt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{ get; set;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9362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B278-8D44-B5A9-FA00-E272C698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140FC-7836-BFBA-6ECC-A9BCA62EE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In-Memory Data Store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BE68F-ADAE-7C4D-A9A1-9EC0969EE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297" y="1524698"/>
            <a:ext cx="3286584" cy="287695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1D76A0-55E9-5DAE-5A33-9AB1E73F642D}"/>
              </a:ext>
            </a:extLst>
          </p:cNvPr>
          <p:cNvSpPr txBox="1">
            <a:spLocks/>
          </p:cNvSpPr>
          <p:nvPr/>
        </p:nvSpPr>
        <p:spPr>
          <a:xfrm>
            <a:off x="6288657" y="1592791"/>
            <a:ext cx="5065143" cy="4014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จำลองข้อมูลเสมือนเป็นการต่อ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Database</a:t>
            </a:r>
          </a:p>
          <a:p>
            <a:pPr marL="342900" indent="-342900">
              <a:buFont typeface="+mj-lt"/>
              <a:buAutoNum type="arabicPeriod"/>
            </a:pP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“Solution Explorer”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คลิกขวาที่โปรเจกต์ `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Workshop`</a:t>
            </a:r>
          </a:p>
          <a:p>
            <a:pPr marL="342900" indent="-342900">
              <a:buFont typeface="+mj-lt"/>
              <a:buAutoNum type="arabicPeriod"/>
            </a:pP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“Add” → “New Folder”</a:t>
            </a:r>
          </a:p>
          <a:p>
            <a:pPr marL="342900" indent="-342900">
              <a:buFont typeface="+mj-lt"/>
              <a:buAutoNum type="arabicPeriod"/>
            </a:pP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ตั้งชื่อ: `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Data`</a:t>
            </a:r>
          </a:p>
          <a:p>
            <a:pPr marL="342900" indent="-342900">
              <a:buFont typeface="+mj-lt"/>
              <a:buAutoNum type="arabicPeriod"/>
            </a:pP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กด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Enter</a:t>
            </a:r>
          </a:p>
        </p:txBody>
      </p:sp>
    </p:spTree>
    <p:extLst>
      <p:ext uri="{BB962C8B-B14F-4D97-AF65-F5344CB8AC3E}">
        <p14:creationId xmlns:p14="http://schemas.microsoft.com/office/powerpoint/2010/main" val="386154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DBF7E-3C54-58B7-AD9A-03F187F1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630C-8281-E818-4A95-94A1F0B5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In-Memory Data Store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9066D9-654A-B588-60E0-5CE251DA2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8657" y="1592791"/>
            <a:ext cx="5065143" cy="40143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จำลองข้อมูลเสมือนเป็นการต่อ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Database</a:t>
            </a:r>
          </a:p>
          <a:p>
            <a:pPr marL="342900" indent="-342900">
              <a:buFont typeface="+mj-lt"/>
              <a:buAutoNum type="arabicPeriod"/>
            </a:pP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สร้างไฟล์ 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UserStore.cs</a:t>
            </a:r>
            <a:endParaRPr lang="en-US" sz="1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คลิกขวาที่โฟลเดอร์ `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Data`</a:t>
            </a:r>
          </a:p>
          <a:p>
            <a:pPr marL="342900" indent="-342900">
              <a:buFont typeface="+mj-lt"/>
              <a:buAutoNum type="arabicPeriod"/>
            </a:pP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 **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Add** → **Class...**</a:t>
            </a:r>
          </a:p>
          <a:p>
            <a:pPr marL="342900" indent="-342900">
              <a:buFont typeface="+mj-lt"/>
              <a:buAutoNum type="arabicPeriod"/>
            </a:pP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ตั้งชื่อ: `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UserStore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`</a:t>
            </a:r>
          </a:p>
          <a:p>
            <a:pPr marL="342900" indent="-342900">
              <a:buFont typeface="+mj-lt"/>
              <a:buAutoNum type="arabicPeriod"/>
            </a:pP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คลิก **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Add**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Visual Studio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จะสร้างไฟล์ `</a:t>
            </a:r>
            <a:r>
              <a:rPr lang="en-US" sz="1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UserStore.cs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`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ให้อัตโนมัติ</a:t>
            </a:r>
            <a:endParaRPr lang="en-US" sz="1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52AF5-5A3F-B68D-F052-CCAA1DD06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65" y="1494846"/>
            <a:ext cx="3267531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48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2E703-B84C-FCF1-E50C-1A7C24F55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7EE5-9197-7143-A5D3-D88B448CC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In-Memory Data Store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9E16126-E8E3-C7F9-C432-1FAE9967B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2114" y="1144588"/>
            <a:ext cx="5487838" cy="4968814"/>
          </a:xfrm>
          <a:ln>
            <a:solidFill>
              <a:schemeClr val="tx1"/>
            </a:solidFill>
          </a:ln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th-TH" sz="29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 </a:t>
            </a:r>
            <a:r>
              <a:rPr lang="en-US" sz="29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Code </a:t>
            </a:r>
            <a:r>
              <a:rPr lang="th-TH" sz="29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ที่จะเสมือนเป็นข้อมูลของเรา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public static List&lt;User&gt; Users = new()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{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   new User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   {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       Id = 1,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       Username = "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john_doe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",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       Email = "john@example.com",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       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CreatedAt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= 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DateTime.UtcNow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   },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   new User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   {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       Id = 2,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       Username = "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jane_smith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",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       Email = "jane@example.com",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       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CreatedAt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= </a:t>
            </a:r>
            <a:r>
              <a:rPr lang="en-US" sz="1800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DateTime.UtcNow</a:t>
            </a: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    }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    };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AF719F-247B-85E1-3490-6E1A52F7E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28" y="1414731"/>
            <a:ext cx="4030952" cy="348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85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CC435-72A6-6530-E6BE-45132ACB1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1DC6C-EBCF-910B-CE01-3D01D8C6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Implementing CRUD Operations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941EAC-6C33-453D-3364-9158145DD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9699" y="1144588"/>
            <a:ext cx="4917056" cy="419516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สร้างไฟล์ </a:t>
            </a:r>
            <a:r>
              <a:rPr lang="en-US" b="1" u="sng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UsersController.cs</a:t>
            </a:r>
            <a:endParaRPr lang="en-US" b="1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buFont typeface="+mj-lt"/>
              <a:buAutoNum type="arabicPeriod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คลิกขวาที่โฟลเดอร์ `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Controllers`</a:t>
            </a:r>
          </a:p>
          <a:p>
            <a:pPr marL="457200" indent="-457200">
              <a:buFont typeface="+mj-lt"/>
              <a:buAutoNum type="arabicPeriod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 **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Add** → **Controller...**</a:t>
            </a:r>
          </a:p>
          <a:p>
            <a:pPr marL="457200" indent="-457200">
              <a:buFont typeface="+mj-lt"/>
              <a:buAutoNum type="arabicPeriod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 **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API Controller - Empty**</a:t>
            </a:r>
          </a:p>
          <a:p>
            <a:pPr marL="457200" indent="-457200">
              <a:buFont typeface="+mj-lt"/>
              <a:buAutoNum type="arabicPeriod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คลิก **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Add**</a:t>
            </a:r>
          </a:p>
          <a:p>
            <a:pPr marL="457200" indent="-457200">
              <a:buFont typeface="+mj-lt"/>
              <a:buAutoNum type="arabicPeriod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ตั้งชื่อ: `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UsersController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`</a:t>
            </a:r>
          </a:p>
          <a:p>
            <a:pPr marL="457200" indent="-457200">
              <a:buFont typeface="+mj-lt"/>
              <a:buAutoNum type="arabicPeriod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คลิก **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Add**</a:t>
            </a:r>
            <a:endParaRPr lang="en-US" sz="1200" dirty="0">
              <a:highlight>
                <a:srgbClr val="FFFF00"/>
              </a:highligh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08FFD-10B7-3F47-05BC-91D960AFF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245" y="1224377"/>
            <a:ext cx="3315163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52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151A6-A398-F403-5CDF-10F0059C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6A0E-6880-3CA3-AEA8-F8C6606D6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Implementing CRUD Operations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A91ED4-B89E-124A-6D9E-83017FF25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524" y="1611313"/>
            <a:ext cx="3173801" cy="268446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Code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ด้านล่าง</a:t>
            </a:r>
          </a:p>
          <a:p>
            <a:pPr marL="0" indent="0">
              <a:buNone/>
            </a:pP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รันโปรแกรม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F5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เพื่อทดสอบ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D58FC-A532-AB09-1974-604B976E2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759" y="1457325"/>
            <a:ext cx="5067891" cy="4120482"/>
          </a:xfrm>
          <a:prstGeom prst="rect">
            <a:avLst/>
          </a:prstGeo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C6FA964-4E3B-0BE6-3A2B-49E16982B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847275"/>
              </p:ext>
            </p:extLst>
          </p:nvPr>
        </p:nvGraphicFramePr>
        <p:xfrm>
          <a:off x="6875463" y="2082800"/>
          <a:ext cx="11858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1185840" imgH="532800" progId="Package">
                  <p:embed/>
                </p:oleObj>
              </mc:Choice>
              <mc:Fallback>
                <p:oleObj name="Packager Shell Object" showAsIcon="1" r:id="rId3" imgW="1185840" imgH="532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75463" y="2082800"/>
                        <a:ext cx="1185862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0717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44B16-0A1C-F6C8-3DB7-6454AD54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CRUD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0D38F-DD2D-0DBE-7838-C88F5C1F5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UserUpdateDto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[</a:t>
            </a:r>
            <a:r>
              <a:rPr lang="en-US" dirty="0" err="1"/>
              <a:t>JsonPropertyName</a:t>
            </a:r>
            <a:r>
              <a:rPr lang="en-US" dirty="0"/>
              <a:t>("</a:t>
            </a:r>
            <a:r>
              <a:rPr lang="en-US" dirty="0" err="1"/>
              <a:t>user_name</a:t>
            </a:r>
            <a:r>
              <a:rPr lang="en-US" dirty="0"/>
              <a:t>")]</a:t>
            </a:r>
          </a:p>
          <a:p>
            <a:pPr marL="0" indent="0">
              <a:buNone/>
            </a:pPr>
            <a:r>
              <a:rPr lang="en-US" dirty="0"/>
              <a:t>    public string? Username { get; set;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[</a:t>
            </a:r>
            <a:r>
              <a:rPr lang="en-US" dirty="0" err="1"/>
              <a:t>JsonPropertyName</a:t>
            </a:r>
            <a:r>
              <a:rPr lang="en-US" dirty="0"/>
              <a:t>("email")]</a:t>
            </a:r>
          </a:p>
          <a:p>
            <a:pPr marL="0" indent="0">
              <a:buNone/>
            </a:pPr>
            <a:r>
              <a:rPr lang="en-US" dirty="0"/>
              <a:t>    public string? Email { get; set;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9184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1FC61-4A54-69E5-9594-16E9A263E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A02D3-7B44-973D-4E6F-E671F0D03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Implementing CRUD Operations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C1097A-D1F0-0904-DFE1-8032033D1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276" y="1592791"/>
            <a:ext cx="5600699" cy="28744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 Operation 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ที่เหลือ</a:t>
            </a:r>
          </a:p>
          <a:p>
            <a:pPr marL="0" indent="0">
              <a:buNone/>
            </a:pPr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POST  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สำหรับสร้าง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</a:t>
            </a:r>
          </a:p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PUT    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Update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ข้อมูลทั้งหมด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PATH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สำหรับ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Update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ข้อมูลบางส่วน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DELETE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ลบข้อมูล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ABE7A62-0B46-6AE6-9C86-09D9B69560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605962"/>
              </p:ext>
            </p:extLst>
          </p:nvPr>
        </p:nvGraphicFramePr>
        <p:xfrm>
          <a:off x="1781175" y="4818063"/>
          <a:ext cx="11430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143087" imgH="514350" progId="Package">
                  <p:embed/>
                </p:oleObj>
              </mc:Choice>
              <mc:Fallback>
                <p:oleObj name="Packager Shell Object" showAsIcon="1" r:id="rId2" imgW="114308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81175" y="4818063"/>
                        <a:ext cx="11430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4328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F640B-D6C2-2674-4193-5BF31153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EA5A7-FEC3-5FC0-EFBF-342C53B18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Input Validation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68D6C7-9BF5-B29A-43B4-EBB4F088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149" y="1277006"/>
            <a:ext cx="5405881" cy="521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52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74924-0EEA-77D0-27B4-84A1891BC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48B8E-64C3-16EC-D9F0-14A6BCE7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Testing with Swagger &amp; Postman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084D949-C87C-C0B0-E3CF-D0AC0F2D7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43225" y="1566863"/>
            <a:ext cx="5183188" cy="496429"/>
          </a:xfrm>
        </p:spPr>
        <p:txBody>
          <a:bodyPr>
            <a:normAutofit/>
          </a:bodyPr>
          <a:lstStyle/>
          <a:p>
            <a:r>
              <a:rPr lang="en-US" sz="2000" dirty="0"/>
              <a:t>Test with Swagger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B029D-7D70-2238-FD7C-0DB23387E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2063292"/>
            <a:ext cx="6610350" cy="42140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20798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D0A12-D7EE-426E-5AFF-751D91F2B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4565-D498-3E45-300C-2C045079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Testing with Swagger &amp; Postman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DAD18F-0F6A-62BA-EFEB-E25C5D870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951345"/>
            <a:ext cx="7873244" cy="3883127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DE69571-D8AA-896A-2DCA-843688C42560}"/>
              </a:ext>
            </a:extLst>
          </p:cNvPr>
          <p:cNvSpPr txBox="1">
            <a:spLocks/>
          </p:cNvSpPr>
          <p:nvPr/>
        </p:nvSpPr>
        <p:spPr>
          <a:xfrm>
            <a:off x="3857625" y="1299752"/>
            <a:ext cx="5183188" cy="4964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Test with Postman</a:t>
            </a:r>
          </a:p>
        </p:txBody>
      </p:sp>
    </p:spTree>
    <p:extLst>
      <p:ext uri="{BB962C8B-B14F-4D97-AF65-F5344CB8AC3E}">
        <p14:creationId xmlns:p14="http://schemas.microsoft.com/office/powerpoint/2010/main" val="2712720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4F728-F5F9-B12F-60E8-68CF95275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BD56-C428-9FE3-6240-5F4719D85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Testing with Swagger &amp; Postman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498AD2-1DB1-80D4-51E4-2D954F15B9CF}"/>
              </a:ext>
            </a:extLst>
          </p:cNvPr>
          <p:cNvSpPr txBox="1">
            <a:spLocks/>
          </p:cNvSpPr>
          <p:nvPr/>
        </p:nvSpPr>
        <p:spPr>
          <a:xfrm>
            <a:off x="3857625" y="1299752"/>
            <a:ext cx="5183188" cy="4964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Import from swagger  or </a:t>
            </a:r>
            <a:r>
              <a:rPr lang="en-US" dirty="0" err="1"/>
              <a:t>openapi.json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629230-519B-6E3C-317B-3514C4E78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99" y="1951345"/>
            <a:ext cx="4643019" cy="369195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567B393-300F-05D3-4CEA-F10073BE5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084" y="1910076"/>
            <a:ext cx="3581400" cy="4522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3E282-35EF-8251-9FBE-0E21AD73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C2FAB-D6C5-DF50-30FE-C796FDA09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Testing with Swagger &amp; Postman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8E1C5F-3C20-4A36-CF9E-E28116BEE69C}"/>
              </a:ext>
            </a:extLst>
          </p:cNvPr>
          <p:cNvSpPr txBox="1">
            <a:spLocks/>
          </p:cNvSpPr>
          <p:nvPr/>
        </p:nvSpPr>
        <p:spPr>
          <a:xfrm>
            <a:off x="1019175" y="1223147"/>
            <a:ext cx="5183188" cy="4964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Import from </a:t>
            </a:r>
            <a:r>
              <a:rPr lang="en-US" dirty="0" err="1"/>
              <a:t>openapi.json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4388C21-F000-F1A1-2BE9-5C65A060E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19576"/>
            <a:ext cx="3581400" cy="4522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8DED63-3008-D06C-CC66-6EE175218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224" y="3991104"/>
            <a:ext cx="3643865" cy="237221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321031-3821-D0E3-9FF7-32AEAB8EAD88}"/>
              </a:ext>
            </a:extLst>
          </p:cNvPr>
          <p:cNvCxnSpPr>
            <a:cxnSpLocks/>
          </p:cNvCxnSpPr>
          <p:nvPr/>
        </p:nvCxnSpPr>
        <p:spPr>
          <a:xfrm>
            <a:off x="3171825" y="1962150"/>
            <a:ext cx="1779737" cy="23986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21DCCF1-3D79-1984-71CD-541FA8D86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224" y="1057947"/>
            <a:ext cx="3581401" cy="27278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B961D4-B480-2611-A934-DA83049E2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279" y="1719576"/>
            <a:ext cx="2972215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43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D81BD-0C95-F762-698A-40A795FCA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22260-9F11-1F42-2839-4038A5A61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6797" y="2116183"/>
            <a:ext cx="9021201" cy="1312817"/>
          </a:xfrm>
        </p:spPr>
        <p:txBody>
          <a:bodyPr>
            <a:normAutofit/>
          </a:bodyPr>
          <a:lstStyle/>
          <a:p>
            <a:r>
              <a:rPr lang="en-US" sz="3200" dirty="0"/>
              <a:t>Session 2: JWT Authentication Development</a:t>
            </a:r>
          </a:p>
        </p:txBody>
      </p:sp>
    </p:spTree>
    <p:extLst>
      <p:ext uri="{BB962C8B-B14F-4D97-AF65-F5344CB8AC3E}">
        <p14:creationId xmlns:p14="http://schemas.microsoft.com/office/powerpoint/2010/main" val="373549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C9466-724C-66A4-BD3D-B18D67FD5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94CA-D870-9C69-EC05-A8037D5C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 to Authentication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1AAB904-8152-4D37-8307-83D023F46DAB}"/>
              </a:ext>
            </a:extLst>
          </p:cNvPr>
          <p:cNvSpPr txBox="1">
            <a:spLocks/>
          </p:cNvSpPr>
          <p:nvPr/>
        </p:nvSpPr>
        <p:spPr>
          <a:xfrm>
            <a:off x="838200" y="1446401"/>
            <a:ext cx="8005643" cy="4964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สามารถสร้างระบบ </a:t>
            </a: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Authentication </a:t>
            </a:r>
            <a:r>
              <a:rPr lang="th-TH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ด้วย </a:t>
            </a: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JWT (JSON Web Token) </a:t>
            </a:r>
            <a:r>
              <a:rPr lang="th-TH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โดยใช้ </a:t>
            </a: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username </a:t>
            </a:r>
            <a:r>
              <a:rPr lang="th-TH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password </a:t>
            </a:r>
            <a:r>
              <a:rPr lang="th-TH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login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5BDD6-FCDD-FAAC-455E-328A0CDC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033" y="2066615"/>
            <a:ext cx="8190241" cy="4023633"/>
          </a:xfrm>
          <a:ln>
            <a:solidFill>
              <a:schemeClr val="tx1"/>
            </a:solidFill>
            <a:prstDash val="dash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Controller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ที่ชื่อว่า </a:t>
            </a:r>
            <a:r>
              <a:rPr lang="en-US"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AuthController.cs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**Require Endpoint</a:t>
            </a:r>
            <a:r>
              <a:rPr lang="th-TH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</a:t>
            </a:r>
          </a:p>
          <a:p>
            <a:pPr marL="0" indent="0">
              <a:buNone/>
            </a:pP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POST   /</a:t>
            </a:r>
            <a:r>
              <a:rPr lang="en-US"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api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/auth/register    →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ลงทะเบียน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ใหม่</a:t>
            </a:r>
          </a:p>
          <a:p>
            <a:pPr marL="0" indent="0">
              <a:buNone/>
            </a:pP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POST   /</a:t>
            </a:r>
            <a:r>
              <a:rPr lang="en-US"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api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/auth/login       → Login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ด้วย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username/password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และรับ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JWT token + refresh token</a:t>
            </a:r>
          </a:p>
          <a:p>
            <a:pPr marL="0" indent="0">
              <a:buNone/>
            </a:pP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POST   /</a:t>
            </a:r>
            <a:r>
              <a:rPr lang="en-US"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api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/auth/logout      → Logout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revoke refresh token</a:t>
            </a:r>
          </a:p>
          <a:p>
            <a:pPr marL="0" indent="0">
              <a:buNone/>
            </a:pP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GET    /</a:t>
            </a:r>
            <a:r>
              <a:rPr lang="en-US"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api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/auth/profile     →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ดูข้อมูลตัวเอง (ต้องมี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token)</a:t>
            </a:r>
          </a:p>
          <a:p>
            <a:pPr marL="0" indent="0">
              <a:buNone/>
            </a:pPr>
            <a:r>
              <a: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**Optional Endpoint**</a:t>
            </a:r>
          </a:p>
          <a:p>
            <a:pPr marL="0" indent="0">
              <a:buNone/>
            </a:pP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POST   /</a:t>
            </a:r>
            <a:r>
              <a:rPr lang="en-US"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api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/auth/refresh     → Refresh access token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โดยใช้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refresh token</a:t>
            </a:r>
          </a:p>
          <a:p>
            <a:pPr marL="0" indent="0">
              <a:buNone/>
            </a:pP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977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F0DA4-7B78-C8F8-6FF3-96C770551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7451-1069-3C16-A332-42A092242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 to Authentication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7AA4B45-B492-B344-F904-F14867DA1562}"/>
              </a:ext>
            </a:extLst>
          </p:cNvPr>
          <p:cNvSpPr txBox="1">
            <a:spLocks/>
          </p:cNvSpPr>
          <p:nvPr/>
        </p:nvSpPr>
        <p:spPr>
          <a:xfrm>
            <a:off x="838200" y="1446401"/>
            <a:ext cx="8005643" cy="4964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สามารถสร้างระบบ </a:t>
            </a: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Authentication </a:t>
            </a:r>
            <a:r>
              <a:rPr lang="th-TH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ด้วย </a:t>
            </a: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JWT (JSON Web Token) </a:t>
            </a:r>
            <a:r>
              <a:rPr lang="th-TH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โดยใช้ </a:t>
            </a: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username </a:t>
            </a:r>
            <a:r>
              <a:rPr lang="th-TH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password </a:t>
            </a:r>
            <a:r>
              <a:rPr lang="th-TH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login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F0F9B-F04A-2F9F-40D6-60E03C436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033" y="2066615"/>
            <a:ext cx="8190241" cy="4023633"/>
          </a:xfrm>
          <a:ln>
            <a:solidFill>
              <a:schemeClr val="tx1"/>
            </a:solidFill>
            <a:prstDash val="dash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**Features:**</a:t>
            </a:r>
          </a:p>
          <a:p>
            <a:pPr marL="0" indent="0">
              <a:buNone/>
            </a:pP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Hash password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ด้วย </a:t>
            </a:r>
            <a:r>
              <a:rPr lang="en-US"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bcrypt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JWT access token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refresh token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หลัง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login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สำเร็จ</a:t>
            </a:r>
          </a:p>
          <a:p>
            <a:pPr marL="0" indent="0">
              <a:buNone/>
            </a:pP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Refresh access token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โดยใช้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refresh token</a:t>
            </a:r>
          </a:p>
          <a:p>
            <a:pPr marL="0" indent="0">
              <a:buNone/>
            </a:pP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Logout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revoke refresh token (token blacklist)</a:t>
            </a:r>
          </a:p>
          <a:p>
            <a:pPr marL="0" indent="0">
              <a:buNone/>
            </a:pP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ตรวจสอบ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JWT token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protected endpoints</a:t>
            </a:r>
          </a:p>
          <a:p>
            <a:pPr marL="0" indent="0">
              <a:buNone/>
            </a:pP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username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password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2051552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D5FD4-242B-ECE6-C2A5-F6A2B5E05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BF7D-46F7-3260-25ED-71984B20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Project Setup &amp;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529EB-45CD-4810-42FB-873F89398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183"/>
            <a:ext cx="8190241" cy="4023633"/>
          </a:xfrm>
          <a:ln>
            <a:solidFill>
              <a:schemeClr val="tx1"/>
            </a:solidFill>
            <a:prstDash val="dash"/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ติดตั้ง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NuGet Packages</a:t>
            </a:r>
          </a:p>
          <a:p>
            <a:pPr marL="0" indent="0">
              <a:buNone/>
            </a:pP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**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Solution Explorer**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คลิกขวาที่โปรเจกต์</a:t>
            </a:r>
          </a:p>
          <a:p>
            <a:pPr marL="0" indent="0">
              <a:buNone/>
            </a:pP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 เลือก **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Manage NuGet Packages...**</a:t>
            </a:r>
          </a:p>
          <a:p>
            <a:pPr marL="0" indent="0">
              <a:buNone/>
            </a:pP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ไปที่แท็บ **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Browse**</a:t>
            </a:r>
          </a:p>
          <a:p>
            <a:pPr marL="0" indent="0">
              <a:buNone/>
            </a:pP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4.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ค้นหาและติดตั้ง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packages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ต่อไปนี้:</a:t>
            </a:r>
          </a:p>
          <a:p>
            <a:pPr marL="0" indent="0">
              <a:buNone/>
            </a:pPr>
            <a:endParaRPr lang="th-TH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Packages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ที่ต้องติดตั้ง:**</a:t>
            </a:r>
          </a:p>
          <a:p>
            <a:pPr marL="0" indent="0">
              <a:buNone/>
            </a:pP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`</a:t>
            </a:r>
            <a:r>
              <a:rPr lang="en-US"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Microsoft.AspNetCore.Authentication.JwtBearer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` (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เวอร์ชันล่าสุด)</a:t>
            </a:r>
          </a:p>
          <a:p>
            <a:pPr marL="0" indent="0">
              <a:buNone/>
            </a:pP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`</a:t>
            </a:r>
            <a:r>
              <a:rPr lang="en-US"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BCrypt.Net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-Next` (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hash password)</a:t>
            </a:r>
          </a:p>
          <a:p>
            <a:pPr marL="0" indent="0">
              <a:buNone/>
            </a:pP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`</a:t>
            </a:r>
            <a:r>
              <a:rPr lang="en-US"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System.IdentityModel.Tokens.Jwt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` (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สำหรับสร้างและ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verify JWT)</a:t>
            </a:r>
          </a:p>
        </p:txBody>
      </p:sp>
    </p:spTree>
    <p:extLst>
      <p:ext uri="{BB962C8B-B14F-4D97-AF65-F5344CB8AC3E}">
        <p14:creationId xmlns:p14="http://schemas.microsoft.com/office/powerpoint/2010/main" val="30952353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14A24-A803-472D-D91F-AF652ADCA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8F9DD-50E7-24C3-078A-8AA3DCEE2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Updating User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97AF2-AE1A-8D20-FC4F-D46E0D7E9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2315" y="1417183"/>
            <a:ext cx="6109110" cy="584145"/>
          </a:xfrm>
          <a:ln>
            <a:solidFill>
              <a:schemeClr val="tx1"/>
            </a:solidFill>
            <a:prstDash val="dash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เปิดไฟล์ `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Models/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User.cs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ที่สร้างไว้และเพิ่ม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field `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password_hash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`: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8ACC4-0BA1-42AB-38F9-7FF7E4AE7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316" y="2092948"/>
            <a:ext cx="6109109" cy="385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91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FD437-B714-3693-1F41-911E48AB9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7E282-87FA-D19B-C999-6C86E8C6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Updating User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A0755-71D0-0E4C-AD5F-1D6DD72BF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942" y="1144588"/>
            <a:ext cx="9241070" cy="584145"/>
          </a:xfrm>
          <a:ln>
            <a:solidFill>
              <a:schemeClr val="tx1"/>
            </a:solidFill>
            <a:prstDash val="dash"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**สร้างไฟล์ใหม่:** `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Models/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UserRegisterDto.cs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สำหรับเพิ่มข้อมูลผู้ใช้งาน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B270F9-A5F1-BE56-1245-83A46C4F9D5A}"/>
              </a:ext>
            </a:extLst>
          </p:cNvPr>
          <p:cNvSpPr txBox="1">
            <a:spLocks/>
          </p:cNvSpPr>
          <p:nvPr/>
        </p:nvSpPr>
        <p:spPr>
          <a:xfrm>
            <a:off x="1940942" y="1906378"/>
            <a:ext cx="4802758" cy="396102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latin typeface="+mn-lt"/>
                <a:cs typeface="TH SarabunPSK" panose="020B0500040200020003" pitchFamily="34" charset="-34"/>
              </a:rPr>
              <a:t> 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[Required]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JsonPropertyName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("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user_name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public string Username { get; set; } =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string.Empty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highlight>
                <a:srgbClr val="FFFF00"/>
              </a:highlight>
              <a:latin typeface="+mn-lt"/>
              <a:cs typeface="TH SarabunPSK" panose="020B0500040200020003" pitchFamily="34" charset="-3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[Required]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EmailAddress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JsonPropertyName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("email")]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public string Email { get; set; } =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string.Empty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highlight>
                <a:srgbClr val="FFFF00"/>
              </a:highlight>
              <a:latin typeface="+mn-lt"/>
              <a:cs typeface="TH SarabunPSK" panose="020B0500040200020003" pitchFamily="34" charset="-3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[Required]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MinLength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(6)]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JsonPropertyName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("password")]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public string Password { get; set; } =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string.Empty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;</a:t>
            </a:r>
            <a:endParaRPr lang="en-US" sz="1000" dirty="0">
              <a:highlight>
                <a:srgbClr val="FFFF00"/>
              </a:highlight>
              <a:latin typeface="+mn-lt"/>
              <a:cs typeface="TH SarabunPSK" panose="020B0500040200020003" pitchFamily="34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ABB140-47E3-FF6A-ED3A-661F4E8F3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261" y="1969255"/>
            <a:ext cx="4349751" cy="317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392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C34E2-7F18-742E-EBAB-C276EBFC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A7965-F1B3-6F3E-7580-05275406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Updating User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EE91E-E0EE-1A36-B4AA-C6525FF9D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942" y="1144588"/>
            <a:ext cx="9241070" cy="584145"/>
          </a:xfrm>
          <a:ln>
            <a:solidFill>
              <a:schemeClr val="tx1"/>
            </a:solidFill>
            <a:prstDash val="dash"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**สร้างไฟล์ใหม่:** `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Models/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UserLoginDto.cs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สำหรับการ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Login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ระบบ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286060-E6FE-60C8-B3DD-8401327A5F60}"/>
              </a:ext>
            </a:extLst>
          </p:cNvPr>
          <p:cNvSpPr txBox="1">
            <a:spLocks/>
          </p:cNvSpPr>
          <p:nvPr/>
        </p:nvSpPr>
        <p:spPr>
          <a:xfrm>
            <a:off x="1940942" y="1906378"/>
            <a:ext cx="4615133" cy="330089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[Required]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JsonPropertyName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("username")]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public string Username { get; set; } =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string.Empty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[Required]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JsonPropertyName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("password")]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public string Password { get; set; } =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string.Empty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;</a:t>
            </a:r>
            <a:endParaRPr lang="en-US" sz="1050" dirty="0">
              <a:highlight>
                <a:srgbClr val="FFFF00"/>
              </a:highlight>
              <a:latin typeface="+mn-lt"/>
              <a:cs typeface="TH SarabunPSK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B09D94-7B9D-D39A-4E0D-EFBB19949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771" y="2269108"/>
            <a:ext cx="4552241" cy="256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0339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3DFCF-4878-10FB-C485-94330085B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FA17-8643-44D3-C331-AD2F4FAC7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Updating User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C57A-BD23-5ADB-B553-C3C6D4CD9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942" y="1144588"/>
            <a:ext cx="9241070" cy="584145"/>
          </a:xfrm>
          <a:ln>
            <a:solidFill>
              <a:schemeClr val="tx1"/>
            </a:solidFill>
            <a:prstDash val="dash"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**สร้างไฟล์ใหม่:** `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Models/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TokenResponse.cs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สำหรับ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Response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Login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สำเร็จ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3C0DA-F8E6-5D45-F5EC-5D97CE392114}"/>
              </a:ext>
            </a:extLst>
          </p:cNvPr>
          <p:cNvSpPr txBox="1">
            <a:spLocks/>
          </p:cNvSpPr>
          <p:nvPr/>
        </p:nvSpPr>
        <p:spPr>
          <a:xfrm>
            <a:off x="1940942" y="1906378"/>
            <a:ext cx="4640833" cy="392292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JsonPropertyName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("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access_token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public string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AccessToken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{ get; set; } =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string.Empty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JsonPropertyName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("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refresh_token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public string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RefreshToken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{ get; set; } =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string.Empty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JsonPropertyName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("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token_type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public string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TokenType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{ get; set; } = "bearer";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JsonPropertyName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("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expires_in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public int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ExpiresIn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{ get; set; }</a:t>
            </a:r>
            <a:endParaRPr lang="en-US" sz="900" dirty="0">
              <a:highlight>
                <a:srgbClr val="FFFF00"/>
              </a:highlight>
              <a:latin typeface="+mn-lt"/>
              <a:cs typeface="TH SarabunPSK" panose="020B0500040200020003" pitchFamily="34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EA392D-FA2B-AD87-E1C1-311094C9A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363" y="1899536"/>
            <a:ext cx="4172614" cy="305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866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9BDF5-1C48-C864-9AB8-179055CBE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7DDE-1C3C-911D-0521-907567128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Updating User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19B42-6C5F-D71B-9DA1-0750FA22F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942" y="1144588"/>
            <a:ext cx="9241070" cy="584145"/>
          </a:xfrm>
          <a:ln>
            <a:solidFill>
              <a:schemeClr val="tx1"/>
            </a:solidFill>
            <a:prstDash val="dash"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**สร้างไฟล์ใหม่:** `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Models/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RefreshTokenDto.cs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สำหรับสร้าง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access token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ใหม่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F7C650D-7054-97FF-A1CD-01A3ACEFCF73}"/>
              </a:ext>
            </a:extLst>
          </p:cNvPr>
          <p:cNvSpPr txBox="1">
            <a:spLocks/>
          </p:cNvSpPr>
          <p:nvPr/>
        </p:nvSpPr>
        <p:spPr>
          <a:xfrm>
            <a:off x="1940942" y="1906378"/>
            <a:ext cx="4615133" cy="330089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[Required]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[</a:t>
            </a:r>
            <a:r>
              <a:rPr lang="en-US" sz="14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JsonPropertyName</a:t>
            </a:r>
            <a:r>
              <a:rPr lang="en-US" sz="14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("</a:t>
            </a:r>
            <a:r>
              <a:rPr lang="en-US" sz="14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refresh_token</a:t>
            </a:r>
            <a:r>
              <a:rPr lang="en-US" sz="14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public string </a:t>
            </a:r>
            <a:r>
              <a:rPr lang="en-US" sz="14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RefreshToken</a:t>
            </a:r>
            <a:r>
              <a:rPr lang="en-US" sz="14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{ get; set; } = </a:t>
            </a:r>
            <a:r>
              <a:rPr lang="en-US" sz="14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string.Empty</a:t>
            </a:r>
            <a:r>
              <a:rPr lang="en-US" sz="14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;</a:t>
            </a:r>
            <a:endParaRPr lang="en-US" sz="1100" dirty="0">
              <a:highlight>
                <a:srgbClr val="FFFF00"/>
              </a:highlight>
              <a:latin typeface="+mn-lt"/>
              <a:cs typeface="TH SarabunPSK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C9E76E-613F-1CB6-E1AD-47E90C10E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524" y="1924051"/>
            <a:ext cx="4366488" cy="181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316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A1920-0569-2719-4C30-26EB7308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4DC8C-8D6E-56F7-FF31-CAF555A6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Updating User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68D3E-4101-B089-5D78-10F910419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942" y="1144588"/>
            <a:ext cx="9241070" cy="584145"/>
          </a:xfrm>
          <a:ln>
            <a:solidFill>
              <a:schemeClr val="tx1"/>
            </a:solidFill>
            <a:prstDash val="dash"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**สร้างไฟล์ใหม่:** `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Models/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UserResponse.cs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Return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ข้อมูลผู้ใช้งาน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C0BB53-6A01-EE19-191A-A3AE063B0F10}"/>
              </a:ext>
            </a:extLst>
          </p:cNvPr>
          <p:cNvSpPr txBox="1">
            <a:spLocks/>
          </p:cNvSpPr>
          <p:nvPr/>
        </p:nvSpPr>
        <p:spPr>
          <a:xfrm>
            <a:off x="1940942" y="1906378"/>
            <a:ext cx="4615133" cy="330089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JsonPropertyName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("id")]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public int Id { get; set; 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highlight>
                <a:srgbClr val="FFFF00"/>
              </a:highlight>
              <a:latin typeface="+mn-lt"/>
              <a:cs typeface="TH SarabunPSK" panose="020B0500040200020003" pitchFamily="34" charset="-3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JsonPropertyName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("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user_name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public string Username { get; set; } =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string.Empty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highlight>
                <a:srgbClr val="FFFF00"/>
              </a:highlight>
              <a:latin typeface="+mn-lt"/>
              <a:cs typeface="TH SarabunPSK" panose="020B0500040200020003" pitchFamily="34" charset="-3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JsonPropertyName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("email")]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public string Email { get; set; } =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string.Empty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highlight>
                <a:srgbClr val="FFFF00"/>
              </a:highlight>
              <a:latin typeface="+mn-lt"/>
              <a:cs typeface="TH SarabunPSK" panose="020B0500040200020003" pitchFamily="34" charset="-3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[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JsonPropertyName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("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created_at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")]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public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DateTime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CreatedAt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{ get; set; }</a:t>
            </a:r>
            <a:endParaRPr lang="en-US" sz="1000" dirty="0">
              <a:highlight>
                <a:srgbClr val="FFFF00"/>
              </a:highlight>
              <a:latin typeface="+mn-lt"/>
              <a:cs typeface="TH SarabunPSK" panose="020B0500040200020003" pitchFamily="34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1FD1DF-F910-4B8D-2A82-2F09971CE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864" y="1906378"/>
            <a:ext cx="3862470" cy="317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90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411AB-18B4-879A-A94F-E80B38873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8993-6219-356A-434E-FA6B6F5A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Updating User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4A651-7E18-4278-C522-0D6299563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942" y="1144588"/>
            <a:ext cx="9241070" cy="584145"/>
          </a:xfrm>
          <a:ln>
            <a:solidFill>
              <a:schemeClr val="tx1"/>
            </a:solidFill>
            <a:prstDash val="dash"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เปิดไฟล์ `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Data/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UserStore.cs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ที่สร้างไว้และเพิ่ม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Authentication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0570F3-4121-EED6-A84F-21871B44626D}"/>
              </a:ext>
            </a:extLst>
          </p:cNvPr>
          <p:cNvSpPr txBox="1">
            <a:spLocks/>
          </p:cNvSpPr>
          <p:nvPr/>
        </p:nvSpPr>
        <p:spPr>
          <a:xfrm>
            <a:off x="1940942" y="1906378"/>
            <a:ext cx="4615133" cy="330089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new User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   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        Id = 1,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        Username = "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john_doe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",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        Email = "john@example.com",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        </a:t>
            </a:r>
            <a:r>
              <a:rPr lang="en-US" sz="1200" dirty="0" err="1">
                <a:highlight>
                  <a:srgbClr val="00FFFF"/>
                </a:highlight>
                <a:latin typeface="+mn-lt"/>
                <a:cs typeface="TH SarabunPSK" panose="020B0500040200020003" pitchFamily="34" charset="-34"/>
              </a:rPr>
              <a:t>PasswordHash</a:t>
            </a:r>
            <a:r>
              <a:rPr lang="en-US" sz="1200" dirty="0">
                <a:highlight>
                  <a:srgbClr val="00FFFF"/>
                </a:highlight>
                <a:latin typeface="+mn-lt"/>
                <a:cs typeface="TH SarabunPSK" panose="020B0500040200020003" pitchFamily="34" charset="-34"/>
              </a:rPr>
              <a:t> = "", 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// </a:t>
            </a:r>
            <a:r>
              <a:rPr lang="th-TH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จะต้อง 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hash password </a:t>
            </a:r>
            <a:r>
              <a:rPr lang="th-TH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จริงในขั้นตอนถัดไป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th-TH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CreatedAt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= </a:t>
            </a:r>
            <a:r>
              <a:rPr lang="en-US" sz="1200" dirty="0" err="1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DateTime.UtcNow</a:t>
            </a: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highlight>
                  <a:srgbClr val="FFFF00"/>
                </a:highlight>
                <a:latin typeface="+mn-lt"/>
                <a:cs typeface="TH SarabunPSK" panose="020B0500040200020003" pitchFamily="34" charset="-34"/>
              </a:rPr>
              <a:t>        },</a:t>
            </a:r>
            <a:endParaRPr lang="en-US" sz="1050" dirty="0">
              <a:highlight>
                <a:srgbClr val="FFFF00"/>
              </a:highlight>
              <a:latin typeface="+mn-lt"/>
              <a:cs typeface="TH SarabunPSK" panose="020B0500040200020003" pitchFamily="34" charset="-3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48E3BF-0F33-C6D6-5BBF-982AE5D37519}"/>
              </a:ext>
            </a:extLst>
          </p:cNvPr>
          <p:cNvGrpSpPr/>
          <p:nvPr/>
        </p:nvGrpSpPr>
        <p:grpSpPr>
          <a:xfrm>
            <a:off x="6960496" y="1906378"/>
            <a:ext cx="3537852" cy="3018036"/>
            <a:chOff x="6960496" y="1906378"/>
            <a:chExt cx="3537852" cy="30180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671E28-40D9-3320-6880-3C14D4BF7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0496" y="1906378"/>
              <a:ext cx="3537852" cy="3018036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557D12-6A6A-24C5-F6A3-2D6C046B996C}"/>
                </a:ext>
              </a:extLst>
            </p:cNvPr>
            <p:cNvSpPr/>
            <p:nvPr/>
          </p:nvSpPr>
          <p:spPr>
            <a:xfrm>
              <a:off x="7712015" y="2915728"/>
              <a:ext cx="1492370" cy="25879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6399A0-2983-4851-5F23-1165770A39B8}"/>
                </a:ext>
              </a:extLst>
            </p:cNvPr>
            <p:cNvSpPr/>
            <p:nvPr/>
          </p:nvSpPr>
          <p:spPr>
            <a:xfrm>
              <a:off x="7795404" y="4077478"/>
              <a:ext cx="1492370" cy="25879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29719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2275C-4A63-0F0A-1771-0A523049E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F4711-9253-1BEC-4E6F-3AACD8488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Updating User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655FD-1D94-5FCC-EDCF-45B7A5516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942" y="1144588"/>
            <a:ext cx="9241070" cy="584145"/>
          </a:xfrm>
          <a:ln>
            <a:solidFill>
              <a:schemeClr val="tx1"/>
            </a:solidFill>
            <a:prstDash val="dash"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เปิดไฟล์ `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Data/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UserStore.cs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ที่สร้างไว้และเพิ่ม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Authentication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15B04-CDE5-6BB2-B92C-BB43005F2D25}"/>
              </a:ext>
            </a:extLst>
          </p:cNvPr>
          <p:cNvSpPr txBox="1"/>
          <p:nvPr/>
        </p:nvSpPr>
        <p:spPr>
          <a:xfrm>
            <a:off x="1940942" y="1924051"/>
            <a:ext cx="4398898" cy="44012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700" dirty="0"/>
              <a:t>// Token blacklist </a:t>
            </a:r>
            <a:r>
              <a:rPr lang="th-TH" sz="700" dirty="0"/>
              <a:t>สำหรับเก็บ </a:t>
            </a:r>
            <a:r>
              <a:rPr lang="en-US" sz="700" dirty="0"/>
              <a:t>refresh tokens </a:t>
            </a:r>
            <a:r>
              <a:rPr lang="th-TH" sz="700" dirty="0"/>
              <a:t>ที่ถูก </a:t>
            </a:r>
            <a:r>
              <a:rPr lang="en-US" sz="700" dirty="0"/>
              <a:t>revoke</a:t>
            </a:r>
          </a:p>
          <a:p>
            <a:r>
              <a:rPr lang="en-US" sz="700" dirty="0"/>
              <a:t>public static HashSet&lt;string&gt; </a:t>
            </a:r>
            <a:r>
              <a:rPr lang="en-US" sz="700" dirty="0" err="1"/>
              <a:t>RevokedRefreshTokens</a:t>
            </a:r>
            <a:r>
              <a:rPr lang="en-US" sz="700" dirty="0"/>
              <a:t> = new();</a:t>
            </a:r>
          </a:p>
          <a:p>
            <a:r>
              <a:rPr lang="en-US" sz="700" dirty="0"/>
              <a:t>// Token blacklist </a:t>
            </a:r>
            <a:r>
              <a:rPr lang="th-TH" sz="700" dirty="0"/>
              <a:t>สำหรับเก็บ </a:t>
            </a:r>
            <a:r>
              <a:rPr lang="en-US" sz="700" dirty="0"/>
              <a:t>access token </a:t>
            </a:r>
            <a:r>
              <a:rPr lang="en-US" sz="700" dirty="0" err="1"/>
              <a:t>jti</a:t>
            </a:r>
            <a:r>
              <a:rPr lang="en-US" sz="700" dirty="0"/>
              <a:t> </a:t>
            </a:r>
            <a:r>
              <a:rPr lang="th-TH" sz="700" dirty="0"/>
              <a:t>ที่ถูก </a:t>
            </a:r>
            <a:r>
              <a:rPr lang="en-US" sz="700" dirty="0"/>
              <a:t>revoke</a:t>
            </a:r>
          </a:p>
          <a:p>
            <a:r>
              <a:rPr lang="en-US" sz="700" dirty="0"/>
              <a:t>public static HashSet&lt;string&gt; </a:t>
            </a:r>
            <a:r>
              <a:rPr lang="en-US" sz="700" dirty="0" err="1"/>
              <a:t>RevokedAccessTokenJtis</a:t>
            </a:r>
            <a:r>
              <a:rPr lang="en-US" sz="700" dirty="0"/>
              <a:t> = new();</a:t>
            </a:r>
          </a:p>
          <a:p>
            <a:endParaRPr lang="en-US" sz="700" dirty="0"/>
          </a:p>
          <a:p>
            <a:r>
              <a:rPr lang="en-US" sz="700" dirty="0"/>
              <a:t>public static User? </a:t>
            </a:r>
            <a:r>
              <a:rPr lang="en-US" sz="700" dirty="0" err="1"/>
              <a:t>GetUserByUsername</a:t>
            </a:r>
            <a:r>
              <a:rPr lang="en-US" sz="700" dirty="0"/>
              <a:t>(string username)</a:t>
            </a:r>
          </a:p>
          <a:p>
            <a:r>
              <a:rPr lang="en-US" sz="700" dirty="0"/>
              <a:t>{</a:t>
            </a:r>
          </a:p>
          <a:p>
            <a:r>
              <a:rPr lang="en-US" sz="700" dirty="0"/>
              <a:t>    return </a:t>
            </a:r>
            <a:r>
              <a:rPr lang="en-US" sz="700" dirty="0" err="1"/>
              <a:t>Users.FirstOrDefault</a:t>
            </a:r>
            <a:r>
              <a:rPr lang="en-US" sz="700" dirty="0"/>
              <a:t>(u =&gt; </a:t>
            </a:r>
            <a:r>
              <a:rPr lang="en-US" sz="700" dirty="0" err="1"/>
              <a:t>u.Username</a:t>
            </a:r>
            <a:r>
              <a:rPr lang="en-US" sz="700" dirty="0"/>
              <a:t> == username);</a:t>
            </a:r>
          </a:p>
          <a:p>
            <a:r>
              <a:rPr lang="en-US" sz="700" dirty="0"/>
              <a:t>}</a:t>
            </a:r>
          </a:p>
          <a:p>
            <a:endParaRPr lang="en-US" sz="700" dirty="0"/>
          </a:p>
          <a:p>
            <a:r>
              <a:rPr lang="en-US" sz="700" dirty="0"/>
              <a:t>public static User? </a:t>
            </a:r>
            <a:r>
              <a:rPr lang="en-US" sz="700" dirty="0" err="1"/>
              <a:t>GetUserById</a:t>
            </a:r>
            <a:r>
              <a:rPr lang="en-US" sz="700" dirty="0"/>
              <a:t>(int id)</a:t>
            </a:r>
          </a:p>
          <a:p>
            <a:r>
              <a:rPr lang="en-US" sz="700" dirty="0"/>
              <a:t>{</a:t>
            </a:r>
          </a:p>
          <a:p>
            <a:r>
              <a:rPr lang="en-US" sz="700" dirty="0"/>
              <a:t>    return </a:t>
            </a:r>
            <a:r>
              <a:rPr lang="en-US" sz="700" dirty="0" err="1"/>
              <a:t>Users.FirstOrDefault</a:t>
            </a:r>
            <a:r>
              <a:rPr lang="en-US" sz="700" dirty="0"/>
              <a:t>(u =&gt; </a:t>
            </a:r>
            <a:r>
              <a:rPr lang="en-US" sz="700" dirty="0" err="1"/>
              <a:t>u.Id</a:t>
            </a:r>
            <a:r>
              <a:rPr lang="en-US" sz="700" dirty="0"/>
              <a:t> == id);</a:t>
            </a:r>
          </a:p>
          <a:p>
            <a:r>
              <a:rPr lang="en-US" sz="700" dirty="0"/>
              <a:t>}</a:t>
            </a:r>
          </a:p>
          <a:p>
            <a:endParaRPr lang="en-US" sz="700" dirty="0"/>
          </a:p>
          <a:p>
            <a:r>
              <a:rPr lang="en-US" sz="700" dirty="0"/>
              <a:t>public static User </a:t>
            </a:r>
            <a:r>
              <a:rPr lang="en-US" sz="700" dirty="0" err="1"/>
              <a:t>CreateUser</a:t>
            </a:r>
            <a:r>
              <a:rPr lang="en-US" sz="700" dirty="0"/>
              <a:t>(User user)</a:t>
            </a:r>
          </a:p>
          <a:p>
            <a:r>
              <a:rPr lang="en-US" sz="700" dirty="0"/>
              <a:t>{</a:t>
            </a:r>
          </a:p>
          <a:p>
            <a:r>
              <a:rPr lang="en-US" sz="700" dirty="0"/>
              <a:t>    </a:t>
            </a:r>
            <a:r>
              <a:rPr lang="en-US" sz="700" dirty="0" err="1"/>
              <a:t>Users.Add</a:t>
            </a:r>
            <a:r>
              <a:rPr lang="en-US" sz="700" dirty="0"/>
              <a:t>(user);</a:t>
            </a:r>
          </a:p>
          <a:p>
            <a:r>
              <a:rPr lang="en-US" sz="700" dirty="0"/>
              <a:t>    return user;</a:t>
            </a:r>
          </a:p>
          <a:p>
            <a:r>
              <a:rPr lang="en-US" sz="700" dirty="0"/>
              <a:t>}</a:t>
            </a:r>
          </a:p>
          <a:p>
            <a:endParaRPr lang="en-US" sz="700" dirty="0"/>
          </a:p>
          <a:p>
            <a:r>
              <a:rPr lang="en-US" sz="700" dirty="0"/>
              <a:t>public static void </a:t>
            </a:r>
            <a:r>
              <a:rPr lang="en-US" sz="700" dirty="0" err="1"/>
              <a:t>RevokeRefreshToken</a:t>
            </a:r>
            <a:r>
              <a:rPr lang="en-US" sz="700" dirty="0"/>
              <a:t>(string </a:t>
            </a:r>
            <a:r>
              <a:rPr lang="en-US" sz="700" dirty="0" err="1"/>
              <a:t>refreshToken</a:t>
            </a:r>
            <a:r>
              <a:rPr lang="en-US" sz="700" dirty="0"/>
              <a:t>)</a:t>
            </a:r>
          </a:p>
          <a:p>
            <a:r>
              <a:rPr lang="en-US" sz="700" dirty="0"/>
              <a:t>{</a:t>
            </a:r>
          </a:p>
          <a:p>
            <a:r>
              <a:rPr lang="en-US" sz="700" dirty="0"/>
              <a:t>    </a:t>
            </a:r>
            <a:r>
              <a:rPr lang="en-US" sz="700" dirty="0" err="1"/>
              <a:t>RevokedRefreshTokens.Add</a:t>
            </a:r>
            <a:r>
              <a:rPr lang="en-US" sz="700" dirty="0"/>
              <a:t>(</a:t>
            </a:r>
            <a:r>
              <a:rPr lang="en-US" sz="700" dirty="0" err="1"/>
              <a:t>refreshToken</a:t>
            </a:r>
            <a:r>
              <a:rPr lang="en-US" sz="700" dirty="0"/>
              <a:t>);</a:t>
            </a:r>
          </a:p>
          <a:p>
            <a:r>
              <a:rPr lang="en-US" sz="700" dirty="0"/>
              <a:t>}</a:t>
            </a:r>
          </a:p>
          <a:p>
            <a:endParaRPr lang="en-US" sz="700" dirty="0"/>
          </a:p>
          <a:p>
            <a:r>
              <a:rPr lang="en-US" sz="700" dirty="0"/>
              <a:t>public static bool IsRefreshTokenRevoked(string </a:t>
            </a:r>
            <a:r>
              <a:rPr lang="en-US" sz="700" dirty="0" err="1"/>
              <a:t>refreshToken</a:t>
            </a:r>
            <a:r>
              <a:rPr lang="en-US" sz="700" dirty="0"/>
              <a:t>)</a:t>
            </a:r>
          </a:p>
          <a:p>
            <a:r>
              <a:rPr lang="en-US" sz="700" dirty="0"/>
              <a:t>{</a:t>
            </a:r>
          </a:p>
          <a:p>
            <a:r>
              <a:rPr lang="en-US" sz="700" dirty="0"/>
              <a:t>    return </a:t>
            </a:r>
            <a:r>
              <a:rPr lang="en-US" sz="700" dirty="0" err="1"/>
              <a:t>RevokedRefreshTokens.Contains</a:t>
            </a:r>
            <a:r>
              <a:rPr lang="en-US" sz="700" dirty="0"/>
              <a:t>(</a:t>
            </a:r>
            <a:r>
              <a:rPr lang="en-US" sz="700" dirty="0" err="1"/>
              <a:t>refreshToken</a:t>
            </a:r>
            <a:r>
              <a:rPr lang="en-US" sz="700" dirty="0"/>
              <a:t>);</a:t>
            </a:r>
          </a:p>
          <a:p>
            <a:r>
              <a:rPr lang="en-US" sz="700" dirty="0"/>
              <a:t>}</a:t>
            </a:r>
          </a:p>
          <a:p>
            <a:endParaRPr lang="en-US" sz="700" dirty="0"/>
          </a:p>
          <a:p>
            <a:r>
              <a:rPr lang="en-US" sz="700" dirty="0"/>
              <a:t>public static void </a:t>
            </a:r>
            <a:r>
              <a:rPr lang="en-US" sz="700" dirty="0" err="1"/>
              <a:t>RevokeAccessTokenJti</a:t>
            </a:r>
            <a:r>
              <a:rPr lang="en-US" sz="700" dirty="0"/>
              <a:t>(string </a:t>
            </a:r>
            <a:r>
              <a:rPr lang="en-US" sz="700" dirty="0" err="1"/>
              <a:t>jti</a:t>
            </a:r>
            <a:r>
              <a:rPr lang="en-US" sz="700" dirty="0"/>
              <a:t>)</a:t>
            </a:r>
          </a:p>
          <a:p>
            <a:r>
              <a:rPr lang="en-US" sz="700" dirty="0"/>
              <a:t>{</a:t>
            </a:r>
          </a:p>
          <a:p>
            <a:r>
              <a:rPr lang="en-US" sz="700" dirty="0"/>
              <a:t>    </a:t>
            </a:r>
            <a:r>
              <a:rPr lang="en-US" sz="700" dirty="0" err="1"/>
              <a:t>RevokedAccessTokenJtis.Add</a:t>
            </a:r>
            <a:r>
              <a:rPr lang="en-US" sz="700" dirty="0"/>
              <a:t>(</a:t>
            </a:r>
            <a:r>
              <a:rPr lang="en-US" sz="700" dirty="0" err="1"/>
              <a:t>jti</a:t>
            </a:r>
            <a:r>
              <a:rPr lang="en-US" sz="700" dirty="0"/>
              <a:t>);</a:t>
            </a:r>
          </a:p>
          <a:p>
            <a:r>
              <a:rPr lang="en-US" sz="700" dirty="0"/>
              <a:t>}</a:t>
            </a:r>
          </a:p>
          <a:p>
            <a:endParaRPr lang="en-US" sz="700" dirty="0"/>
          </a:p>
          <a:p>
            <a:r>
              <a:rPr lang="en-US" sz="700" dirty="0"/>
              <a:t>public static bool </a:t>
            </a:r>
            <a:r>
              <a:rPr lang="en-US" sz="700" dirty="0" err="1"/>
              <a:t>IsAccessTokenJtiRevoked</a:t>
            </a:r>
            <a:r>
              <a:rPr lang="en-US" sz="700" dirty="0"/>
              <a:t>(string </a:t>
            </a:r>
            <a:r>
              <a:rPr lang="en-US" sz="700" dirty="0" err="1"/>
              <a:t>jti</a:t>
            </a:r>
            <a:r>
              <a:rPr lang="en-US" sz="700" dirty="0"/>
              <a:t>)</a:t>
            </a:r>
          </a:p>
          <a:p>
            <a:r>
              <a:rPr lang="en-US" sz="700" dirty="0"/>
              <a:t>{</a:t>
            </a:r>
          </a:p>
          <a:p>
            <a:r>
              <a:rPr lang="en-US" sz="700" dirty="0"/>
              <a:t>    return </a:t>
            </a:r>
            <a:r>
              <a:rPr lang="en-US" sz="700" dirty="0" err="1"/>
              <a:t>RevokedAccessTokenJtis.Contains</a:t>
            </a:r>
            <a:r>
              <a:rPr lang="en-US" sz="700" dirty="0"/>
              <a:t>(</a:t>
            </a:r>
            <a:r>
              <a:rPr lang="en-US" sz="700" dirty="0" err="1"/>
              <a:t>jti</a:t>
            </a:r>
            <a:r>
              <a:rPr lang="en-US" sz="700" dirty="0"/>
              <a:t>);</a:t>
            </a:r>
          </a:p>
          <a:p>
            <a:r>
              <a:rPr lang="en-US" sz="700" dirty="0"/>
              <a:t>}</a:t>
            </a:r>
            <a:endParaRPr lang="en-US" sz="700" dirty="0">
              <a:highlight>
                <a:srgbClr val="FFFF00"/>
              </a:highligh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117B15-6D14-AE44-529D-AE7D07A66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146" y="1924051"/>
            <a:ext cx="4321392" cy="364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343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400ED-3887-7B20-9D9E-2934406E1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F6AA-9E9B-1C97-C78F-E86055646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Updating User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1FE28-F514-AE5B-CD70-81C97153B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942" y="1144588"/>
            <a:ext cx="8816198" cy="4695495"/>
          </a:xfrm>
          <a:ln>
            <a:solidFill>
              <a:schemeClr val="tx1"/>
            </a:solidFill>
            <a:prstDash val="dash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**อธิบาย:**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 `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RevokedRefreshTokens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token blacklist (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เก็บ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refresh tokens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ที่ถูก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revoke)</a:t>
            </a:r>
          </a:p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GetUserByUsername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()` -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ค้นหา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จาก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username</a:t>
            </a:r>
            <a:endParaRPr lang="th-TH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GetUserById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()` -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ค้นหา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จาก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id </a:t>
            </a:r>
          </a:p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CreateUser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()` -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ใหม่ </a:t>
            </a:r>
            <a:endParaRPr lang="en-US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RevokeRefreshToken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()` </a:t>
            </a:r>
          </a:p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`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IsRefreshTokenRevoked()` -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ตรวจสอบว่า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refresh token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ถูก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revoke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หรือไม่ 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499130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F57A7-7B2B-B480-76B8-BA308CB34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8224-C340-6278-1220-53941986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Creating Services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7C9AD-2407-9111-C0DF-62C637E56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037" y="1144588"/>
            <a:ext cx="4433979" cy="4695495"/>
          </a:xfrm>
          <a:ln>
            <a:solidFill>
              <a:schemeClr val="tx1"/>
            </a:solidFill>
            <a:prstDash val="dash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Service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JWT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Password</a:t>
            </a:r>
          </a:p>
          <a:p>
            <a:pPr marL="0" indent="0"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สร้างโฟลเดอร์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Services</a:t>
            </a:r>
          </a:p>
          <a:p>
            <a:pPr marL="0" indent="0">
              <a:buNone/>
            </a:pP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คลิกขวาที่โปรเจกต์</a:t>
            </a:r>
          </a:p>
          <a:p>
            <a:pPr marL="0" indent="0"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 เลือก **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Add** → **New Folder**</a:t>
            </a:r>
          </a:p>
          <a:p>
            <a:pPr marL="0" indent="0">
              <a:buNone/>
            </a:pP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ตั้งชื่อ: `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Services`</a:t>
            </a:r>
          </a:p>
          <a:p>
            <a:pPr marL="0" indent="0"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สร้างไฟล์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pPr marL="0" indent="0"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`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Services/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PasswordService.cs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`</a:t>
            </a:r>
          </a:p>
          <a:p>
            <a:pPr marL="0" indent="0">
              <a:buNone/>
            </a:pP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`Services/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JwtService.cs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`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0B842-1E1A-CFCD-219F-F78C9F82C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473" y="1192033"/>
            <a:ext cx="3057952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8504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26E37-8601-6732-2FCE-DF2E83E05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785A-4597-8BEC-75AA-A8F8EEC83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Creating Services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2DCCE-4492-1464-405C-FFCB12F86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9397"/>
            <a:ext cx="4433979" cy="3755216"/>
          </a:xfrm>
          <a:ln>
            <a:solidFill>
              <a:schemeClr val="tx1"/>
            </a:solidFill>
            <a:prstDash val="dash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public static string </a:t>
            </a:r>
            <a:r>
              <a:rPr lang="en-US" sz="1400" dirty="0" err="1">
                <a:highlight>
                  <a:srgbClr val="FFFF00"/>
                </a:highlight>
                <a:latin typeface="+mn-lt"/>
              </a:rPr>
              <a:t>HashPassword</a:t>
            </a:r>
            <a:r>
              <a:rPr lang="en-US" sz="1400" dirty="0">
                <a:highlight>
                  <a:srgbClr val="FFFF00"/>
                </a:highlight>
                <a:latin typeface="+mn-lt"/>
              </a:rPr>
              <a:t>(string password)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    {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        return </a:t>
            </a:r>
            <a:r>
              <a:rPr lang="en-US" sz="1400" dirty="0" err="1">
                <a:highlight>
                  <a:srgbClr val="FFFF00"/>
                </a:highlight>
                <a:latin typeface="+mn-lt"/>
              </a:rPr>
              <a:t>BCrypt.Net.BCrypt.HashPassword</a:t>
            </a:r>
            <a:r>
              <a:rPr lang="en-US" sz="1400" dirty="0">
                <a:highlight>
                  <a:srgbClr val="FFFF00"/>
                </a:highlight>
                <a:latin typeface="+mn-lt"/>
              </a:rPr>
              <a:t>(password);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    }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    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    public static bool </a:t>
            </a:r>
            <a:r>
              <a:rPr lang="en-US" sz="1400" dirty="0" err="1">
                <a:highlight>
                  <a:srgbClr val="FFFF00"/>
                </a:highlight>
                <a:latin typeface="+mn-lt"/>
              </a:rPr>
              <a:t>VerifyPassword</a:t>
            </a:r>
            <a:r>
              <a:rPr lang="en-US" sz="1400" dirty="0">
                <a:highlight>
                  <a:srgbClr val="FFFF00"/>
                </a:highlight>
                <a:latin typeface="+mn-lt"/>
              </a:rPr>
              <a:t>(string password, string hash)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    {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        return </a:t>
            </a:r>
            <a:r>
              <a:rPr lang="en-US" sz="1400" dirty="0" err="1">
                <a:highlight>
                  <a:srgbClr val="FFFF00"/>
                </a:highlight>
                <a:latin typeface="+mn-lt"/>
              </a:rPr>
              <a:t>BCrypt.Net.BCrypt.Verify</a:t>
            </a:r>
            <a:r>
              <a:rPr lang="en-US" sz="1400" dirty="0">
                <a:highlight>
                  <a:srgbClr val="FFFF00"/>
                </a:highlight>
                <a:latin typeface="+mn-lt"/>
              </a:rPr>
              <a:t>(password, hash);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    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2BE7C6-2481-441E-F911-4A369FD9A5A3}"/>
              </a:ext>
            </a:extLst>
          </p:cNvPr>
          <p:cNvSpPr txBox="1">
            <a:spLocks/>
          </p:cNvSpPr>
          <p:nvPr/>
        </p:nvSpPr>
        <p:spPr>
          <a:xfrm>
            <a:off x="838199" y="1358886"/>
            <a:ext cx="4433979" cy="52031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PasswordService.cs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EBF00C-2B6A-5DFF-E8FA-E1C778DFF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23" y="2197012"/>
            <a:ext cx="5963482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8784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586C-1939-35AA-B49E-7FABE65F9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97732-A35D-0535-350D-5C4BF4727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Creating Services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47663E-2E02-BF67-4D20-1CE00AB9C7AD}"/>
              </a:ext>
            </a:extLst>
          </p:cNvPr>
          <p:cNvSpPr txBox="1">
            <a:spLocks/>
          </p:cNvSpPr>
          <p:nvPr/>
        </p:nvSpPr>
        <p:spPr>
          <a:xfrm>
            <a:off x="838199" y="1358886"/>
            <a:ext cx="4433979" cy="52031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JwtService.cs</a:t>
            </a:r>
            <a:endParaRPr lang="en-US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C6F7DD0-4E88-0F31-0709-C2B8C4DD43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303231"/>
              </p:ext>
            </p:extLst>
          </p:nvPr>
        </p:nvGraphicFramePr>
        <p:xfrm>
          <a:off x="5672138" y="1431925"/>
          <a:ext cx="8493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849960" imgH="532800" progId="Package">
                  <p:embed/>
                </p:oleObj>
              </mc:Choice>
              <mc:Fallback>
                <p:oleObj name="Packager Shell Object" showAsIcon="1" r:id="rId2" imgW="849960" imgH="532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72138" y="1431925"/>
                        <a:ext cx="849312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A1AE3841-F26F-B0B1-9CCB-BDFFBEB68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60" y="2176530"/>
            <a:ext cx="8018944" cy="396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401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4B0C5-242A-2AF1-B13A-883A6F0E6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3245-43E6-BD9E-839E-DD3A7990B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Configuring JWT Authentication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DAA891-8186-EAD3-41E5-0956E81EBD01}"/>
              </a:ext>
            </a:extLst>
          </p:cNvPr>
          <p:cNvSpPr txBox="1">
            <a:spLocks/>
          </p:cNvSpPr>
          <p:nvPr/>
        </p:nvSpPr>
        <p:spPr>
          <a:xfrm>
            <a:off x="838200" y="1006510"/>
            <a:ext cx="4433979" cy="52031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เปิดไฟล์ `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Program.cs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`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และแก้ไขเป็นดังนี้: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570C26-BD2A-D57A-13D9-05C473061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6023"/>
            <a:ext cx="4433979" cy="4509502"/>
          </a:xfrm>
          <a:ln>
            <a:solidFill>
              <a:schemeClr val="tx1"/>
            </a:solidFill>
            <a:prstDash val="dash"/>
          </a:ln>
        </p:spPr>
        <p:txBody>
          <a:bodyPr>
            <a:normAutofit fontScale="25000" lnSpcReduction="2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// Configure JWT Authentication</a:t>
            </a:r>
          </a:p>
          <a:p>
            <a:r>
              <a:rPr lang="en-US" dirty="0">
                <a:highlight>
                  <a:srgbClr val="FFFF00"/>
                </a:highlight>
              </a:rPr>
              <a:t>var </a:t>
            </a:r>
            <a:r>
              <a:rPr lang="en-US" dirty="0" err="1">
                <a:highlight>
                  <a:srgbClr val="FFFF00"/>
                </a:highlight>
              </a:rPr>
              <a:t>jwtSecretKey</a:t>
            </a:r>
            <a:r>
              <a:rPr lang="en-US" dirty="0">
                <a:highlight>
                  <a:srgbClr val="FFFF00"/>
                </a:highlight>
              </a:rPr>
              <a:t> = </a:t>
            </a:r>
            <a:r>
              <a:rPr lang="en-US" dirty="0" err="1">
                <a:highlight>
                  <a:srgbClr val="FFFF00"/>
                </a:highlight>
              </a:rPr>
              <a:t>builder.Configuration</a:t>
            </a:r>
            <a:r>
              <a:rPr lang="en-US" dirty="0">
                <a:highlight>
                  <a:srgbClr val="FFFF00"/>
                </a:highlight>
              </a:rPr>
              <a:t>["</a:t>
            </a:r>
            <a:r>
              <a:rPr lang="en-US" dirty="0" err="1">
                <a:highlight>
                  <a:srgbClr val="FFFF00"/>
                </a:highlight>
              </a:rPr>
              <a:t>Jwt:SecretKey</a:t>
            </a:r>
            <a:r>
              <a:rPr lang="en-US" dirty="0">
                <a:highlight>
                  <a:srgbClr val="FFFF00"/>
                </a:highlight>
              </a:rPr>
              <a:t>"] ?? "your-super-secret-key-min-256-bits-change-in-production";</a:t>
            </a:r>
          </a:p>
          <a:p>
            <a:r>
              <a:rPr lang="en-US" dirty="0">
                <a:highlight>
                  <a:srgbClr val="FFFF00"/>
                </a:highlight>
              </a:rPr>
              <a:t>var </a:t>
            </a:r>
            <a:r>
              <a:rPr lang="en-US" dirty="0" err="1">
                <a:highlight>
                  <a:srgbClr val="FFFF00"/>
                </a:highlight>
              </a:rPr>
              <a:t>jwtIssuer</a:t>
            </a:r>
            <a:r>
              <a:rPr lang="en-US" dirty="0">
                <a:highlight>
                  <a:srgbClr val="FFFF00"/>
                </a:highlight>
              </a:rPr>
              <a:t> = </a:t>
            </a:r>
            <a:r>
              <a:rPr lang="en-US" dirty="0" err="1">
                <a:highlight>
                  <a:srgbClr val="FFFF00"/>
                </a:highlight>
              </a:rPr>
              <a:t>builder.Configuration</a:t>
            </a:r>
            <a:r>
              <a:rPr lang="en-US" dirty="0">
                <a:highlight>
                  <a:srgbClr val="FFFF00"/>
                </a:highlight>
              </a:rPr>
              <a:t>["</a:t>
            </a:r>
            <a:r>
              <a:rPr lang="en-US" dirty="0" err="1">
                <a:highlight>
                  <a:srgbClr val="FFFF00"/>
                </a:highlight>
              </a:rPr>
              <a:t>Jwt:Issuer</a:t>
            </a:r>
            <a:r>
              <a:rPr lang="en-US" dirty="0">
                <a:highlight>
                  <a:srgbClr val="FFFF00"/>
                </a:highlight>
              </a:rPr>
              <a:t>"] ?? "</a:t>
            </a:r>
            <a:r>
              <a:rPr lang="en-US" dirty="0" err="1">
                <a:highlight>
                  <a:srgbClr val="FFFF00"/>
                </a:highlight>
              </a:rPr>
              <a:t>UserApi</a:t>
            </a:r>
            <a:r>
              <a:rPr lang="en-US" dirty="0">
                <a:highlight>
                  <a:srgbClr val="FFFF00"/>
                </a:highlight>
              </a:rPr>
              <a:t>";</a:t>
            </a:r>
          </a:p>
          <a:p>
            <a:r>
              <a:rPr lang="en-US" dirty="0">
                <a:highlight>
                  <a:srgbClr val="FFFF00"/>
                </a:highlight>
              </a:rPr>
              <a:t>var </a:t>
            </a:r>
            <a:r>
              <a:rPr lang="en-US" dirty="0" err="1">
                <a:highlight>
                  <a:srgbClr val="FFFF00"/>
                </a:highlight>
              </a:rPr>
              <a:t>jwtAudience</a:t>
            </a:r>
            <a:r>
              <a:rPr lang="en-US" dirty="0">
                <a:highlight>
                  <a:srgbClr val="FFFF00"/>
                </a:highlight>
              </a:rPr>
              <a:t> = </a:t>
            </a:r>
            <a:r>
              <a:rPr lang="en-US" dirty="0" err="1">
                <a:highlight>
                  <a:srgbClr val="FFFF00"/>
                </a:highlight>
              </a:rPr>
              <a:t>builder.Configuration</a:t>
            </a:r>
            <a:r>
              <a:rPr lang="en-US" dirty="0">
                <a:highlight>
                  <a:srgbClr val="FFFF00"/>
                </a:highlight>
              </a:rPr>
              <a:t>["</a:t>
            </a:r>
            <a:r>
              <a:rPr lang="en-US" dirty="0" err="1">
                <a:highlight>
                  <a:srgbClr val="FFFF00"/>
                </a:highlight>
              </a:rPr>
              <a:t>Jwt:Audience</a:t>
            </a:r>
            <a:r>
              <a:rPr lang="en-US" dirty="0">
                <a:highlight>
                  <a:srgbClr val="FFFF00"/>
                </a:highlight>
              </a:rPr>
              <a:t>"] ?? "</a:t>
            </a:r>
            <a:r>
              <a:rPr lang="en-US" dirty="0" err="1">
                <a:highlight>
                  <a:srgbClr val="FFFF00"/>
                </a:highlight>
              </a:rPr>
              <a:t>UserApi</a:t>
            </a:r>
            <a:r>
              <a:rPr lang="en-US" dirty="0">
                <a:highlight>
                  <a:srgbClr val="FFFF00"/>
                </a:highlight>
              </a:rPr>
              <a:t>";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 err="1">
                <a:highlight>
                  <a:srgbClr val="FFFF00"/>
                </a:highlight>
              </a:rPr>
              <a:t>builder.Services.AddAuthentication</a:t>
            </a:r>
            <a:r>
              <a:rPr lang="en-US" dirty="0">
                <a:highlight>
                  <a:srgbClr val="FFFF00"/>
                </a:highlight>
              </a:rPr>
              <a:t>(options =&gt;</a:t>
            </a:r>
          </a:p>
          <a:p>
            <a:r>
              <a:rPr lang="en-US" dirty="0">
                <a:highlight>
                  <a:srgbClr val="FFFF00"/>
                </a:highlight>
              </a:rPr>
              <a:t>{</a:t>
            </a:r>
          </a:p>
          <a:p>
            <a:r>
              <a:rPr lang="en-US" dirty="0">
                <a:highlight>
                  <a:srgbClr val="FFFF00"/>
                </a:highlight>
              </a:rPr>
              <a:t>    </a:t>
            </a:r>
            <a:r>
              <a:rPr lang="en-US" dirty="0" err="1">
                <a:highlight>
                  <a:srgbClr val="FFFF00"/>
                </a:highlight>
              </a:rPr>
              <a:t>options.DefaultAuthenticateScheme</a:t>
            </a:r>
            <a:r>
              <a:rPr lang="en-US" dirty="0">
                <a:highlight>
                  <a:srgbClr val="FFFF00"/>
                </a:highlight>
              </a:rPr>
              <a:t> = </a:t>
            </a:r>
            <a:r>
              <a:rPr lang="en-US" dirty="0" err="1">
                <a:highlight>
                  <a:srgbClr val="FFFF00"/>
                </a:highlight>
              </a:rPr>
              <a:t>JwtBearerDefaults.AuthenticationScheme</a:t>
            </a:r>
            <a:r>
              <a:rPr lang="en-US" dirty="0">
                <a:highlight>
                  <a:srgbClr val="FFFF00"/>
                </a:highlight>
              </a:rPr>
              <a:t>;</a:t>
            </a:r>
          </a:p>
          <a:p>
            <a:r>
              <a:rPr lang="en-US" dirty="0">
                <a:highlight>
                  <a:srgbClr val="FFFF00"/>
                </a:highlight>
              </a:rPr>
              <a:t>    </a:t>
            </a:r>
            <a:r>
              <a:rPr lang="en-US" dirty="0" err="1">
                <a:highlight>
                  <a:srgbClr val="FFFF00"/>
                </a:highlight>
              </a:rPr>
              <a:t>options.DefaultChallengeScheme</a:t>
            </a:r>
            <a:r>
              <a:rPr lang="en-US" dirty="0">
                <a:highlight>
                  <a:srgbClr val="FFFF00"/>
                </a:highlight>
              </a:rPr>
              <a:t> = </a:t>
            </a:r>
            <a:r>
              <a:rPr lang="en-US" dirty="0" err="1">
                <a:highlight>
                  <a:srgbClr val="FFFF00"/>
                </a:highlight>
              </a:rPr>
              <a:t>JwtBearerDefaults.AuthenticationScheme</a:t>
            </a:r>
            <a:r>
              <a:rPr lang="en-US" dirty="0">
                <a:highlight>
                  <a:srgbClr val="FFFF00"/>
                </a:highlight>
              </a:rPr>
              <a:t>;</a:t>
            </a:r>
          </a:p>
          <a:p>
            <a:r>
              <a:rPr lang="en-US" dirty="0">
                <a:highlight>
                  <a:srgbClr val="FFFF00"/>
                </a:highlight>
              </a:rPr>
              <a:t>})</a:t>
            </a:r>
          </a:p>
          <a:p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en-US" dirty="0" err="1">
                <a:highlight>
                  <a:srgbClr val="FFFF00"/>
                </a:highlight>
              </a:rPr>
              <a:t>AddJwtBearer</a:t>
            </a:r>
            <a:r>
              <a:rPr lang="en-US" dirty="0">
                <a:highlight>
                  <a:srgbClr val="FFFF00"/>
                </a:highlight>
              </a:rPr>
              <a:t>(options =&gt;</a:t>
            </a:r>
          </a:p>
          <a:p>
            <a:r>
              <a:rPr lang="en-US" dirty="0">
                <a:highlight>
                  <a:srgbClr val="FFFF00"/>
                </a:highlight>
              </a:rPr>
              <a:t>{</a:t>
            </a:r>
          </a:p>
          <a:p>
            <a:r>
              <a:rPr lang="en-US" dirty="0">
                <a:highlight>
                  <a:srgbClr val="FFFF00"/>
                </a:highlight>
              </a:rPr>
              <a:t>    </a:t>
            </a:r>
            <a:r>
              <a:rPr lang="en-US" dirty="0" err="1">
                <a:highlight>
                  <a:srgbClr val="FFFF00"/>
                </a:highlight>
              </a:rPr>
              <a:t>options.TokenValidationParameters</a:t>
            </a:r>
            <a:r>
              <a:rPr lang="en-US" dirty="0">
                <a:highlight>
                  <a:srgbClr val="FFFF00"/>
                </a:highlight>
              </a:rPr>
              <a:t> = new </a:t>
            </a:r>
            <a:r>
              <a:rPr lang="en-US" dirty="0" err="1">
                <a:highlight>
                  <a:srgbClr val="FFFF00"/>
                </a:highlight>
              </a:rPr>
              <a:t>TokenValidationParameters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{</a:t>
            </a: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ValidateIssuerSigningKey</a:t>
            </a:r>
            <a:r>
              <a:rPr lang="en-US" dirty="0">
                <a:highlight>
                  <a:srgbClr val="FFFF00"/>
                </a:highlight>
              </a:rPr>
              <a:t> = true,</a:t>
            </a: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IssuerSigningKey</a:t>
            </a:r>
            <a:r>
              <a:rPr lang="en-US" dirty="0">
                <a:highlight>
                  <a:srgbClr val="FFFF00"/>
                </a:highlight>
              </a:rPr>
              <a:t> = new </a:t>
            </a:r>
            <a:r>
              <a:rPr lang="en-US" dirty="0" err="1">
                <a:highlight>
                  <a:srgbClr val="FFFF00"/>
                </a:highlight>
              </a:rPr>
              <a:t>SymmetricSecurityKey</a:t>
            </a:r>
            <a:r>
              <a:rPr lang="en-US" dirty="0">
                <a:highlight>
                  <a:srgbClr val="FFFF00"/>
                </a:highlight>
              </a:rPr>
              <a:t>(Encoding.UTF8.GetBytes(</a:t>
            </a:r>
            <a:r>
              <a:rPr lang="en-US" dirty="0" err="1">
                <a:highlight>
                  <a:srgbClr val="FFFF00"/>
                </a:highlight>
              </a:rPr>
              <a:t>jwtSecretKey</a:t>
            </a:r>
            <a:r>
              <a:rPr lang="en-US" dirty="0">
                <a:highlight>
                  <a:srgbClr val="FFFF00"/>
                </a:highlight>
              </a:rPr>
              <a:t>)),</a:t>
            </a: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ValidateIssuer</a:t>
            </a:r>
            <a:r>
              <a:rPr lang="en-US" dirty="0">
                <a:highlight>
                  <a:srgbClr val="FFFF00"/>
                </a:highlight>
              </a:rPr>
              <a:t> = true,</a:t>
            </a: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ValidIssuer</a:t>
            </a:r>
            <a:r>
              <a:rPr lang="en-US" dirty="0">
                <a:highlight>
                  <a:srgbClr val="FFFF00"/>
                </a:highlight>
              </a:rPr>
              <a:t> = </a:t>
            </a:r>
            <a:r>
              <a:rPr lang="en-US" dirty="0" err="1">
                <a:highlight>
                  <a:srgbClr val="FFFF00"/>
                </a:highlight>
              </a:rPr>
              <a:t>jwtIssuer</a:t>
            </a:r>
            <a:r>
              <a:rPr lang="en-US" dirty="0">
                <a:highlight>
                  <a:srgbClr val="FFFF00"/>
                </a:highlight>
              </a:rPr>
              <a:t>,</a:t>
            </a: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ValidateAudience</a:t>
            </a:r>
            <a:r>
              <a:rPr lang="en-US" dirty="0">
                <a:highlight>
                  <a:srgbClr val="FFFF00"/>
                </a:highlight>
              </a:rPr>
              <a:t> = true,</a:t>
            </a: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ValidAudience</a:t>
            </a:r>
            <a:r>
              <a:rPr lang="en-US" dirty="0">
                <a:highlight>
                  <a:srgbClr val="FFFF00"/>
                </a:highlight>
              </a:rPr>
              <a:t> = </a:t>
            </a:r>
            <a:r>
              <a:rPr lang="en-US" dirty="0" err="1">
                <a:highlight>
                  <a:srgbClr val="FFFF00"/>
                </a:highlight>
              </a:rPr>
              <a:t>jwtAudience</a:t>
            </a:r>
            <a:r>
              <a:rPr lang="en-US" dirty="0">
                <a:highlight>
                  <a:srgbClr val="FFFF00"/>
                </a:highlight>
              </a:rPr>
              <a:t>,</a:t>
            </a: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ValidateLifetime</a:t>
            </a:r>
            <a:r>
              <a:rPr lang="en-US" dirty="0">
                <a:highlight>
                  <a:srgbClr val="FFFF00"/>
                </a:highlight>
              </a:rPr>
              <a:t> = true,</a:t>
            </a: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ClockSkew</a:t>
            </a:r>
            <a:r>
              <a:rPr lang="en-US" dirty="0">
                <a:highlight>
                  <a:srgbClr val="FFFF00"/>
                </a:highlight>
              </a:rPr>
              <a:t> = </a:t>
            </a:r>
            <a:r>
              <a:rPr lang="en-US" dirty="0" err="1">
                <a:highlight>
                  <a:srgbClr val="FFFF00"/>
                </a:highlight>
              </a:rPr>
              <a:t>TimeSpan.Zero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};</a:t>
            </a:r>
          </a:p>
          <a:p>
            <a:r>
              <a:rPr lang="en-US" dirty="0">
                <a:highlight>
                  <a:srgbClr val="FFFF00"/>
                </a:highlight>
              </a:rPr>
              <a:t>    </a:t>
            </a:r>
            <a:r>
              <a:rPr lang="en-US" dirty="0" err="1">
                <a:highlight>
                  <a:srgbClr val="FFFF00"/>
                </a:highlight>
              </a:rPr>
              <a:t>options.Events</a:t>
            </a:r>
            <a:r>
              <a:rPr lang="en-US" dirty="0">
                <a:highlight>
                  <a:srgbClr val="FFFF00"/>
                </a:highlight>
              </a:rPr>
              <a:t> = new </a:t>
            </a:r>
            <a:r>
              <a:rPr lang="en-US" dirty="0" err="1">
                <a:highlight>
                  <a:srgbClr val="FFFF00"/>
                </a:highlight>
              </a:rPr>
              <a:t>JwtBearerEvents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{</a:t>
            </a: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OnTokenValidated</a:t>
            </a:r>
            <a:r>
              <a:rPr lang="en-US" dirty="0">
                <a:highlight>
                  <a:srgbClr val="FFFF00"/>
                </a:highlight>
              </a:rPr>
              <a:t> = context =&gt;</a:t>
            </a:r>
          </a:p>
          <a:p>
            <a:r>
              <a:rPr lang="en-US" dirty="0">
                <a:highlight>
                  <a:srgbClr val="FFFF00"/>
                </a:highlight>
              </a:rPr>
              <a:t>        {</a:t>
            </a:r>
          </a:p>
          <a:p>
            <a:r>
              <a:rPr lang="en-US" dirty="0">
                <a:highlight>
                  <a:srgbClr val="FFFF00"/>
                </a:highlight>
              </a:rPr>
              <a:t>            var </a:t>
            </a:r>
            <a:r>
              <a:rPr lang="en-US" dirty="0" err="1">
                <a:highlight>
                  <a:srgbClr val="FFFF00"/>
                </a:highlight>
              </a:rPr>
              <a:t>jti</a:t>
            </a:r>
            <a:r>
              <a:rPr lang="en-US" dirty="0">
                <a:highlight>
                  <a:srgbClr val="FFFF00"/>
                </a:highlight>
              </a:rPr>
              <a:t> = context.Principal?.</a:t>
            </a:r>
            <a:r>
              <a:rPr lang="en-US" dirty="0" err="1">
                <a:highlight>
                  <a:srgbClr val="FFFF00"/>
                </a:highlight>
              </a:rPr>
              <a:t>FindFirst</a:t>
            </a:r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JwtRegisteredClaimNames.Jti</a:t>
            </a:r>
            <a:r>
              <a:rPr lang="en-US" dirty="0">
                <a:highlight>
                  <a:srgbClr val="FFFF00"/>
                </a:highlight>
              </a:rPr>
              <a:t>)?.Value;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        if (!</a:t>
            </a:r>
            <a:r>
              <a:rPr lang="en-US" dirty="0" err="1">
                <a:highlight>
                  <a:srgbClr val="FFFF00"/>
                </a:highlight>
              </a:rPr>
              <a:t>string.IsNullOrEmpty</a:t>
            </a:r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jti</a:t>
            </a:r>
            <a:r>
              <a:rPr lang="en-US" dirty="0">
                <a:highlight>
                  <a:srgbClr val="FFFF00"/>
                </a:highlight>
              </a:rPr>
              <a:t>) &amp;&amp; </a:t>
            </a:r>
            <a:r>
              <a:rPr lang="en-US" dirty="0" err="1">
                <a:highlight>
                  <a:srgbClr val="FFFF00"/>
                </a:highlight>
              </a:rPr>
              <a:t>UserStore.IsAccessTokenJtiRevoked</a:t>
            </a:r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jti</a:t>
            </a:r>
            <a:r>
              <a:rPr lang="en-US" dirty="0">
                <a:highlight>
                  <a:srgbClr val="FFFF00"/>
                </a:highlight>
              </a:rPr>
              <a:t>))</a:t>
            </a:r>
          </a:p>
          <a:p>
            <a:r>
              <a:rPr lang="en-US" dirty="0">
                <a:highlight>
                  <a:srgbClr val="FFFF00"/>
                </a:highlight>
              </a:rPr>
              <a:t>            {</a:t>
            </a:r>
          </a:p>
          <a:p>
            <a:r>
              <a:rPr lang="en-US" dirty="0">
                <a:highlight>
                  <a:srgbClr val="FFFF00"/>
                </a:highlight>
              </a:rPr>
              <a:t>                </a:t>
            </a:r>
            <a:r>
              <a:rPr lang="en-US" dirty="0" err="1">
                <a:highlight>
                  <a:srgbClr val="FFFF00"/>
                </a:highlight>
              </a:rPr>
              <a:t>context.Fail</a:t>
            </a:r>
            <a:r>
              <a:rPr lang="en-US" dirty="0">
                <a:highlight>
                  <a:srgbClr val="FFFF00"/>
                </a:highlight>
              </a:rPr>
              <a:t>("Access token has been revoked.");</a:t>
            </a:r>
          </a:p>
          <a:p>
            <a:r>
              <a:rPr lang="en-US" dirty="0">
                <a:highlight>
                  <a:srgbClr val="FFFF00"/>
                </a:highlight>
              </a:rPr>
              <a:t>            }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        return </a:t>
            </a:r>
            <a:r>
              <a:rPr lang="en-US" dirty="0" err="1">
                <a:highlight>
                  <a:srgbClr val="FFFF00"/>
                </a:highlight>
              </a:rPr>
              <a:t>Task.CompletedTask</a:t>
            </a:r>
            <a:r>
              <a:rPr lang="en-US" dirty="0">
                <a:highlight>
                  <a:srgbClr val="FFFF00"/>
                </a:highlight>
              </a:rPr>
              <a:t>;</a:t>
            </a:r>
          </a:p>
          <a:p>
            <a:r>
              <a:rPr lang="en-US" dirty="0">
                <a:highlight>
                  <a:srgbClr val="FFFF00"/>
                </a:highlight>
              </a:rPr>
              <a:t>        }</a:t>
            </a:r>
          </a:p>
          <a:p>
            <a:r>
              <a:rPr lang="en-US" dirty="0">
                <a:highlight>
                  <a:srgbClr val="FFFF00"/>
                </a:highlight>
              </a:rPr>
              <a:t>    };</a:t>
            </a:r>
          </a:p>
          <a:p>
            <a:r>
              <a:rPr lang="en-US" dirty="0">
                <a:highlight>
                  <a:srgbClr val="FFFF00"/>
                </a:highlight>
              </a:rPr>
              <a:t>});</a:t>
            </a:r>
          </a:p>
          <a:p>
            <a:r>
              <a:rPr lang="en-US" dirty="0" err="1">
                <a:highlight>
                  <a:srgbClr val="FFFF00"/>
                </a:highlight>
              </a:rPr>
              <a:t>builder.Services.AddScoped</a:t>
            </a:r>
            <a:r>
              <a:rPr lang="en-US" dirty="0">
                <a:highlight>
                  <a:srgbClr val="FFFF00"/>
                </a:highlight>
              </a:rPr>
              <a:t>&lt;</a:t>
            </a:r>
            <a:r>
              <a:rPr lang="en-US" dirty="0" err="1">
                <a:highlight>
                  <a:srgbClr val="FFFF00"/>
                </a:highlight>
              </a:rPr>
              <a:t>JwtService</a:t>
            </a:r>
            <a:r>
              <a:rPr lang="en-US" dirty="0">
                <a:highlight>
                  <a:srgbClr val="FFFF00"/>
                </a:highlight>
              </a:rPr>
              <a:t>&gt;();</a:t>
            </a:r>
          </a:p>
          <a:p>
            <a:r>
              <a:rPr lang="en-US" dirty="0" err="1">
                <a:highlight>
                  <a:srgbClr val="FFFF00"/>
                </a:highlight>
              </a:rPr>
              <a:t>builder.Services.AddScoped</a:t>
            </a:r>
            <a:r>
              <a:rPr lang="en-US" dirty="0">
                <a:highlight>
                  <a:srgbClr val="FFFF00"/>
                </a:highlight>
              </a:rPr>
              <a:t>&lt;</a:t>
            </a:r>
            <a:r>
              <a:rPr lang="en-US" dirty="0" err="1">
                <a:highlight>
                  <a:srgbClr val="FFFF00"/>
                </a:highlight>
              </a:rPr>
              <a:t>PasswordService</a:t>
            </a:r>
            <a:r>
              <a:rPr lang="en-US" dirty="0">
                <a:highlight>
                  <a:srgbClr val="FFFF00"/>
                </a:highlight>
              </a:rPr>
              <a:t>&gt;();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969F0-410E-792B-302F-C6ECC72F6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097" y="1918082"/>
            <a:ext cx="5920104" cy="414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01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1AA77-56CE-F84E-E54C-E506C083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8B0A-F7B2-37DA-4255-72F3EBFF9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Configuring JWT Authentication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AA74BDF-45F5-CA46-83E3-65BE5C641130}"/>
              </a:ext>
            </a:extLst>
          </p:cNvPr>
          <p:cNvSpPr txBox="1">
            <a:spLocks/>
          </p:cNvSpPr>
          <p:nvPr/>
        </p:nvSpPr>
        <p:spPr>
          <a:xfrm>
            <a:off x="958272" y="1248049"/>
            <a:ext cx="4433979" cy="52031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เปิดไฟล์ `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Program.cs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`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และเพิ่มการใช้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JWT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A635AA-8911-C150-36CD-0DB181609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272" y="2067344"/>
            <a:ext cx="4433980" cy="520310"/>
          </a:xfrm>
          <a:ln>
            <a:solidFill>
              <a:schemeClr val="tx1"/>
            </a:solidFill>
            <a:prstDash val="dash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 err="1">
                <a:highlight>
                  <a:srgbClr val="FFFF00"/>
                </a:highlight>
                <a:latin typeface="+mn-lt"/>
              </a:rPr>
              <a:t>app.UseAuthentication</a:t>
            </a:r>
            <a:r>
              <a:rPr lang="en-US" sz="1400" dirty="0">
                <a:highlight>
                  <a:srgbClr val="FFFF00"/>
                </a:highlight>
                <a:latin typeface="+mn-lt"/>
              </a:rPr>
              <a:t>();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79F727D-04CA-CDBF-9800-69B15DBA44C9}"/>
              </a:ext>
            </a:extLst>
          </p:cNvPr>
          <p:cNvGrpSpPr/>
          <p:nvPr/>
        </p:nvGrpSpPr>
        <p:grpSpPr>
          <a:xfrm>
            <a:off x="5935690" y="1334259"/>
            <a:ext cx="5298038" cy="4189482"/>
            <a:chOff x="5935690" y="1334259"/>
            <a:chExt cx="5298038" cy="418948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A093B17-2644-BDDC-44C1-F6597E606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5690" y="1334259"/>
              <a:ext cx="5298038" cy="418948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D892EC7-BAC4-F5F2-FC68-3174721FC84E}"/>
                </a:ext>
              </a:extLst>
            </p:cNvPr>
            <p:cNvSpPr/>
            <p:nvPr/>
          </p:nvSpPr>
          <p:spPr>
            <a:xfrm>
              <a:off x="6667500" y="4091940"/>
              <a:ext cx="3314700" cy="2667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29827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0A11-610C-A47C-CF38-938AE921B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1ACF3-5E3E-749D-4121-E2664DA5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Configuring JWT Authentication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B21F66-A108-89B9-2D60-AE8259C368EE}"/>
              </a:ext>
            </a:extLst>
          </p:cNvPr>
          <p:cNvSpPr txBox="1">
            <a:spLocks/>
          </p:cNvSpPr>
          <p:nvPr/>
        </p:nvSpPr>
        <p:spPr>
          <a:xfrm>
            <a:off x="958272" y="1248049"/>
            <a:ext cx="4433979" cy="52031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JWT Configuration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appsettings.json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70F0C2-C022-59E9-99D7-CA469A2C0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272" y="2067344"/>
            <a:ext cx="4634808" cy="1925536"/>
          </a:xfrm>
          <a:ln>
            <a:solidFill>
              <a:schemeClr val="tx1"/>
            </a:solidFill>
            <a:prstDash val="dash"/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"</a:t>
            </a:r>
            <a:r>
              <a:rPr lang="en-US" sz="1400" dirty="0" err="1">
                <a:highlight>
                  <a:srgbClr val="FFFF00"/>
                </a:highlight>
                <a:latin typeface="+mn-lt"/>
              </a:rPr>
              <a:t>Jwt</a:t>
            </a:r>
            <a:r>
              <a:rPr lang="en-US" sz="1400" dirty="0">
                <a:highlight>
                  <a:srgbClr val="FFFF00"/>
                </a:highlight>
                <a:latin typeface="+mn-lt"/>
              </a:rPr>
              <a:t>": {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    "</a:t>
            </a:r>
            <a:r>
              <a:rPr lang="en-US" sz="1400" dirty="0" err="1">
                <a:highlight>
                  <a:srgbClr val="FFFF00"/>
                </a:highlight>
                <a:latin typeface="+mn-lt"/>
              </a:rPr>
              <a:t>SecretKey</a:t>
            </a:r>
            <a:r>
              <a:rPr lang="en-US" sz="1400" dirty="0">
                <a:highlight>
                  <a:srgbClr val="FFFF00"/>
                </a:highlight>
                <a:latin typeface="+mn-lt"/>
              </a:rPr>
              <a:t>": "your-super-secret-key-min-256-bits-change-in-production",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    "Issuer": "</a:t>
            </a:r>
            <a:r>
              <a:rPr lang="en-US" sz="1400" dirty="0" err="1">
                <a:highlight>
                  <a:srgbClr val="FFFF00"/>
                </a:highlight>
                <a:latin typeface="+mn-lt"/>
              </a:rPr>
              <a:t>UserApi</a:t>
            </a:r>
            <a:r>
              <a:rPr lang="en-US" sz="1400" dirty="0">
                <a:highlight>
                  <a:srgbClr val="FFFF00"/>
                </a:highlight>
                <a:latin typeface="+mn-lt"/>
              </a:rPr>
              <a:t>",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    "Audience": "</a:t>
            </a:r>
            <a:r>
              <a:rPr lang="en-US" sz="1400" dirty="0" err="1">
                <a:highlight>
                  <a:srgbClr val="FFFF00"/>
                </a:highlight>
                <a:latin typeface="+mn-lt"/>
              </a:rPr>
              <a:t>UserApi</a:t>
            </a:r>
            <a:r>
              <a:rPr lang="en-US" sz="1400" dirty="0">
                <a:highlight>
                  <a:srgbClr val="FFFF00"/>
                </a:highlight>
                <a:latin typeface="+mn-lt"/>
              </a:rPr>
              <a:t>",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    "</a:t>
            </a:r>
            <a:r>
              <a:rPr lang="en-US" sz="1400" dirty="0" err="1">
                <a:highlight>
                  <a:srgbClr val="FFFF00"/>
                </a:highlight>
                <a:latin typeface="+mn-lt"/>
              </a:rPr>
              <a:t>ExpirationMinutes</a:t>
            </a:r>
            <a:r>
              <a:rPr lang="en-US" sz="1400" dirty="0">
                <a:highlight>
                  <a:srgbClr val="FFFF00"/>
                </a:highlight>
                <a:latin typeface="+mn-lt"/>
              </a:rPr>
              <a:t>": "30",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    "</a:t>
            </a:r>
            <a:r>
              <a:rPr lang="en-US" sz="1400" dirty="0" err="1">
                <a:highlight>
                  <a:srgbClr val="FFFF00"/>
                </a:highlight>
                <a:latin typeface="+mn-lt"/>
              </a:rPr>
              <a:t>RefreshTokenExpirationDays</a:t>
            </a:r>
            <a:r>
              <a:rPr lang="en-US" sz="1400" dirty="0">
                <a:highlight>
                  <a:srgbClr val="FFFF00"/>
                </a:highlight>
                <a:latin typeface="+mn-lt"/>
              </a:rPr>
              <a:t>": "7"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+mn-lt"/>
              </a:rPr>
              <a:t>  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AF807F-17A6-1D82-046C-C3D2C4F68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021" y="1546305"/>
            <a:ext cx="4932183" cy="233392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B89F81D-1D5C-E921-7386-2B43D7CF4306}"/>
              </a:ext>
            </a:extLst>
          </p:cNvPr>
          <p:cNvGrpSpPr/>
          <p:nvPr/>
        </p:nvGrpSpPr>
        <p:grpSpPr>
          <a:xfrm>
            <a:off x="958272" y="4370872"/>
            <a:ext cx="3861201" cy="1918099"/>
            <a:chOff x="2621279" y="4424212"/>
            <a:chExt cx="3861201" cy="191809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4DD2F35-CBB0-3166-F026-DF2FBB28A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1279" y="4424212"/>
              <a:ext cx="3861201" cy="1918099"/>
            </a:xfrm>
            <a:prstGeom prst="rect">
              <a:avLst/>
            </a:prstGeom>
          </p:spPr>
        </p:pic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4603FD3-5D94-5F40-03FC-4AE965472894}"/>
                </a:ext>
              </a:extLst>
            </p:cNvPr>
            <p:cNvSpPr/>
            <p:nvPr/>
          </p:nvSpPr>
          <p:spPr>
            <a:xfrm>
              <a:off x="2743200" y="4533900"/>
              <a:ext cx="3739280" cy="38173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08DE44E9-26EF-4E6B-1FEE-0E73FF207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050" y="4179212"/>
            <a:ext cx="4932183" cy="217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623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6FA40-73A1-C17A-E006-A93EF920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FE7E-45DE-BCB6-9E30-62CFFC79A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Implementing Auth Endpoints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35EE6A-5910-B4D2-3F47-54BF826B012E}"/>
              </a:ext>
            </a:extLst>
          </p:cNvPr>
          <p:cNvSpPr txBox="1">
            <a:spLocks/>
          </p:cNvSpPr>
          <p:nvPr/>
        </p:nvSpPr>
        <p:spPr>
          <a:xfrm>
            <a:off x="958272" y="1248049"/>
            <a:ext cx="4329717" cy="69505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แก้ไข 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AuthController.cs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โดยเพิ่ม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Code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เข้าไป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53552DC-F612-0722-AE7F-EE8ADE9EF5F5}"/>
              </a:ext>
            </a:extLst>
          </p:cNvPr>
          <p:cNvSpPr txBox="1">
            <a:spLocks/>
          </p:cNvSpPr>
          <p:nvPr/>
        </p:nvSpPr>
        <p:spPr>
          <a:xfrm>
            <a:off x="6269412" y="1248048"/>
            <a:ext cx="4490028" cy="69505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JWT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ต้องมี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en-US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[Authorize]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ทำให้ต้อง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Login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เพื่อให้ได้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Access Token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ก่อนถึงเรียกใช้งาน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Endpoint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EF5021D-EB99-3B84-B0DC-688A09640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72" y="2620844"/>
            <a:ext cx="4329717" cy="31246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42AF06A-EF1C-D14E-AAB9-15963019F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412" y="2202179"/>
            <a:ext cx="4976988" cy="2979421"/>
          </a:xfrm>
          <a:prstGeom prst="rect">
            <a:avLst/>
          </a:prstGeom>
        </p:spPr>
      </p:pic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DE14AA7A-545B-CA2A-C405-13ED504238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930725"/>
              </p:ext>
            </p:extLst>
          </p:nvPr>
        </p:nvGraphicFramePr>
        <p:xfrm>
          <a:off x="2066925" y="2036763"/>
          <a:ext cx="1155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1155960" imgH="532800" progId="Package">
                  <p:embed/>
                </p:oleObj>
              </mc:Choice>
              <mc:Fallback>
                <p:oleObj name="Packager Shell Object" showAsIcon="1" r:id="rId4" imgW="1155960" imgH="532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66925" y="2036763"/>
                        <a:ext cx="11557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50510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A59E2-E62F-032C-5AFF-F37F652E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DBBDF-0036-8399-CE7A-791E81AC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Testing Authentication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08E7E7-6491-4459-A1FA-FB78741576C9}"/>
              </a:ext>
            </a:extLst>
          </p:cNvPr>
          <p:cNvSpPr txBox="1">
            <a:spLocks/>
          </p:cNvSpPr>
          <p:nvPr/>
        </p:nvSpPr>
        <p:spPr>
          <a:xfrm>
            <a:off x="958272" y="1248048"/>
            <a:ext cx="9808788" cy="472603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u="sng" dirty="0">
                <a:latin typeface="+mn-lt"/>
                <a:cs typeface="TH SarabunPSK" panose="020B0500040200020003" pitchFamily="34" charset="-34"/>
              </a:rPr>
              <a:t>Case1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>
                <a:latin typeface="+mn-lt"/>
                <a:cs typeface="TH SarabunPSK" panose="020B0500040200020003" pitchFamily="34" charset="-34"/>
              </a:rPr>
              <a:t> Get  </a:t>
            </a:r>
            <a:r>
              <a:rPr lang="en-US" sz="1400" dirty="0">
                <a:latin typeface="+mn-lt"/>
              </a:rPr>
              <a:t>/</a:t>
            </a:r>
            <a:r>
              <a:rPr lang="en-US" sz="1400" dirty="0" err="1">
                <a:latin typeface="+mn-lt"/>
              </a:rPr>
              <a:t>api</a:t>
            </a:r>
            <a:r>
              <a:rPr lang="en-US" sz="1400" dirty="0">
                <a:latin typeface="+mn-lt"/>
              </a:rPr>
              <a:t>/auth/profile  -&gt; Expect 401</a:t>
            </a:r>
          </a:p>
          <a:p>
            <a:pPr marL="0" indent="0">
              <a:buNone/>
            </a:pPr>
            <a:r>
              <a:rPr lang="en-US" sz="1400" u="sng" dirty="0">
                <a:latin typeface="+mn-lt"/>
                <a:cs typeface="TH SarabunPSK" panose="020B0500040200020003" pitchFamily="34" charset="-34"/>
              </a:rPr>
              <a:t>Case 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+mn-lt"/>
                <a:cs typeface="TH SarabunPSK" panose="020B0500040200020003" pitchFamily="34" charset="-34"/>
              </a:rPr>
              <a:t>POST </a:t>
            </a:r>
            <a:r>
              <a:rPr lang="en-US" sz="1400" dirty="0">
                <a:latin typeface="+mn-lt"/>
              </a:rPr>
              <a:t>/</a:t>
            </a:r>
            <a:r>
              <a:rPr lang="en-US" sz="1400" dirty="0" err="1">
                <a:latin typeface="+mn-lt"/>
              </a:rPr>
              <a:t>api</a:t>
            </a:r>
            <a:r>
              <a:rPr lang="en-US" sz="1400" dirty="0">
                <a:latin typeface="+mn-lt"/>
              </a:rPr>
              <a:t>/auth/register  -&gt; Expect 201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+mn-lt"/>
                <a:cs typeface="TH SarabunPSK" panose="020B0500040200020003" pitchFamily="34" charset="-34"/>
              </a:rPr>
              <a:t>POST </a:t>
            </a:r>
            <a:r>
              <a:rPr lang="en-US" sz="1400" dirty="0">
                <a:latin typeface="+mn-lt"/>
              </a:rPr>
              <a:t>/</a:t>
            </a:r>
            <a:r>
              <a:rPr lang="en-US" sz="1400" dirty="0" err="1">
                <a:latin typeface="+mn-lt"/>
              </a:rPr>
              <a:t>api</a:t>
            </a:r>
            <a:r>
              <a:rPr lang="en-US" sz="1400" dirty="0">
                <a:latin typeface="+mn-lt"/>
              </a:rPr>
              <a:t>/auth/login -&gt; Expect Response 200 access token and refresh token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+mn-lt"/>
                <a:cs typeface="TH SarabunPSK" panose="020B0500040200020003" pitchFamily="34" charset="-34"/>
              </a:rPr>
              <a:t>GET  </a:t>
            </a:r>
            <a:r>
              <a:rPr lang="en-US" sz="1400" dirty="0">
                <a:latin typeface="+mn-lt"/>
              </a:rPr>
              <a:t>/</a:t>
            </a:r>
            <a:r>
              <a:rPr lang="en-US" sz="1400" dirty="0" err="1">
                <a:latin typeface="+mn-lt"/>
              </a:rPr>
              <a:t>api</a:t>
            </a:r>
            <a:r>
              <a:rPr lang="en-US" sz="1400" dirty="0">
                <a:latin typeface="+mn-lt"/>
              </a:rPr>
              <a:t>/auth/profile  -&gt; Expect 200 and response result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+mn-lt"/>
              </a:rPr>
              <a:t>POST /</a:t>
            </a:r>
            <a:r>
              <a:rPr lang="en-US" sz="1400" dirty="0" err="1">
                <a:latin typeface="+mn-lt"/>
              </a:rPr>
              <a:t>api</a:t>
            </a:r>
            <a:r>
              <a:rPr lang="en-US" sz="1400" dirty="0">
                <a:latin typeface="+mn-lt"/>
              </a:rPr>
              <a:t>/auth/logout -&gt; Expect 200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+mn-lt"/>
                <a:cs typeface="TH SarabunPSK" panose="020B0500040200020003" pitchFamily="34" charset="-34"/>
              </a:rPr>
              <a:t>Get  </a:t>
            </a:r>
            <a:r>
              <a:rPr lang="en-US" sz="1400" dirty="0">
                <a:latin typeface="+mn-lt"/>
              </a:rPr>
              <a:t>/</a:t>
            </a:r>
            <a:r>
              <a:rPr lang="en-US" sz="1400" dirty="0" err="1">
                <a:latin typeface="+mn-lt"/>
              </a:rPr>
              <a:t>api</a:t>
            </a:r>
            <a:r>
              <a:rPr lang="en-US" sz="1400" dirty="0">
                <a:latin typeface="+mn-lt"/>
              </a:rPr>
              <a:t>/auth/profile  -&gt; Expect 401</a:t>
            </a:r>
          </a:p>
          <a:p>
            <a:pPr marL="0" indent="0">
              <a:buNone/>
            </a:pPr>
            <a:r>
              <a:rPr lang="en-US" sz="1400" u="sng" dirty="0">
                <a:latin typeface="+mn-lt"/>
              </a:rPr>
              <a:t>Case 3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+mn-lt"/>
                <a:cs typeface="TH SarabunPSK" panose="020B0500040200020003" pitchFamily="34" charset="-34"/>
              </a:rPr>
              <a:t>POST </a:t>
            </a:r>
            <a:r>
              <a:rPr lang="en-US" sz="1400" dirty="0">
                <a:latin typeface="+mn-lt"/>
              </a:rPr>
              <a:t>/</a:t>
            </a:r>
            <a:r>
              <a:rPr lang="en-US" sz="1400" dirty="0" err="1">
                <a:latin typeface="+mn-lt"/>
              </a:rPr>
              <a:t>api</a:t>
            </a:r>
            <a:r>
              <a:rPr lang="en-US" sz="1400" dirty="0">
                <a:latin typeface="+mn-lt"/>
              </a:rPr>
              <a:t>/auth/register  -&gt; Expect 201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+mn-lt"/>
                <a:cs typeface="TH SarabunPSK" panose="020B0500040200020003" pitchFamily="34" charset="-34"/>
              </a:rPr>
              <a:t>POST </a:t>
            </a:r>
            <a:r>
              <a:rPr lang="en-US" sz="1400" dirty="0">
                <a:latin typeface="+mn-lt"/>
              </a:rPr>
              <a:t>/</a:t>
            </a:r>
            <a:r>
              <a:rPr lang="en-US" sz="1400" dirty="0" err="1">
                <a:latin typeface="+mn-lt"/>
              </a:rPr>
              <a:t>api</a:t>
            </a:r>
            <a:r>
              <a:rPr lang="en-US" sz="1400" dirty="0">
                <a:latin typeface="+mn-lt"/>
              </a:rPr>
              <a:t>/auth/login -&gt; Expect Response 200 access token and refresh token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+mn-lt"/>
                <a:cs typeface="TH SarabunPSK" panose="020B0500040200020003" pitchFamily="34" charset="-34"/>
              </a:rPr>
              <a:t>GET  </a:t>
            </a:r>
            <a:r>
              <a:rPr lang="en-US" sz="1400" dirty="0">
                <a:latin typeface="+mn-lt"/>
              </a:rPr>
              <a:t>/</a:t>
            </a:r>
            <a:r>
              <a:rPr lang="en-US" sz="1400" dirty="0" err="1">
                <a:latin typeface="+mn-lt"/>
              </a:rPr>
              <a:t>api</a:t>
            </a:r>
            <a:r>
              <a:rPr lang="en-US" sz="1400" dirty="0">
                <a:latin typeface="+mn-lt"/>
              </a:rPr>
              <a:t>/auth/profile  -&gt; Expect 200 and response result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+mn-lt"/>
              </a:rPr>
              <a:t>POST /</a:t>
            </a:r>
            <a:r>
              <a:rPr lang="en-US" sz="1400" dirty="0" err="1">
                <a:latin typeface="+mn-lt"/>
              </a:rPr>
              <a:t>api</a:t>
            </a:r>
            <a:r>
              <a:rPr lang="en-US" sz="1400" dirty="0">
                <a:latin typeface="+mn-lt"/>
              </a:rPr>
              <a:t>/auth/refresh -&gt; Expect 200 and Response new </a:t>
            </a:r>
            <a:r>
              <a:rPr lang="en-US" sz="1400" dirty="0" err="1">
                <a:latin typeface="+mn-lt"/>
              </a:rPr>
              <a:t>Access_token</a:t>
            </a:r>
            <a:endParaRPr lang="en-US" sz="1400" dirty="0"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+mn-lt"/>
                <a:cs typeface="TH SarabunPSK" panose="020B0500040200020003" pitchFamily="34" charset="-34"/>
              </a:rPr>
              <a:t>GET  </a:t>
            </a:r>
            <a:r>
              <a:rPr lang="en-US" sz="1400" dirty="0">
                <a:latin typeface="+mn-lt"/>
              </a:rPr>
              <a:t>/</a:t>
            </a:r>
            <a:r>
              <a:rPr lang="en-US" sz="1400" dirty="0" err="1">
                <a:latin typeface="+mn-lt"/>
              </a:rPr>
              <a:t>api</a:t>
            </a:r>
            <a:r>
              <a:rPr lang="en-US" sz="1400" dirty="0">
                <a:latin typeface="+mn-lt"/>
              </a:rPr>
              <a:t>/auth/profile  with new </a:t>
            </a:r>
            <a:r>
              <a:rPr lang="en-US" sz="1400" dirty="0" err="1">
                <a:latin typeface="+mn-lt"/>
              </a:rPr>
              <a:t>Access_token</a:t>
            </a:r>
            <a:r>
              <a:rPr lang="en-US" sz="1400" dirty="0">
                <a:latin typeface="+mn-lt"/>
              </a:rPr>
              <a:t> -&gt; Expect 200 and response result</a:t>
            </a:r>
          </a:p>
          <a:p>
            <a:pPr marL="0" indent="0">
              <a:buNone/>
            </a:pPr>
            <a:endParaRPr lang="en-US" sz="1400" dirty="0"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400" u="sng" dirty="0">
              <a:latin typeface="+mn-lt"/>
            </a:endParaRPr>
          </a:p>
          <a:p>
            <a:pPr marL="0" indent="0">
              <a:buNone/>
            </a:pPr>
            <a:endParaRPr lang="en-US" sz="1400" u="sng" dirty="0"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+mn-lt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sz="1400" dirty="0">
              <a:latin typeface="+mn-lt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290892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2B020-F6F9-1CBD-4F94-1BEBF8589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FE74C-96C6-F5C4-9740-09158FBF5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6797" y="2116183"/>
            <a:ext cx="9021201" cy="1312817"/>
          </a:xfrm>
        </p:spPr>
        <p:txBody>
          <a:bodyPr>
            <a:normAutofit/>
          </a:bodyPr>
          <a:lstStyle/>
          <a:p>
            <a:r>
              <a:rPr lang="en-US" sz="3200" dirty="0"/>
              <a:t>Session 3: CORS</a:t>
            </a:r>
          </a:p>
        </p:txBody>
      </p:sp>
    </p:spTree>
    <p:extLst>
      <p:ext uri="{BB962C8B-B14F-4D97-AF65-F5344CB8AC3E}">
        <p14:creationId xmlns:p14="http://schemas.microsoft.com/office/powerpoint/2010/main" val="13609572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892D9-083F-A55E-2D76-8A71E70C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6234A-40B5-EAFC-95D7-205B7CB7A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Understanding CORS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A1D023-4317-EDB8-B3FF-99931AF2205D}"/>
              </a:ext>
            </a:extLst>
          </p:cNvPr>
          <p:cNvSpPr txBox="1">
            <a:spLocks/>
          </p:cNvSpPr>
          <p:nvPr/>
        </p:nvSpPr>
        <p:spPr>
          <a:xfrm>
            <a:off x="958272" y="1248048"/>
            <a:ext cx="4368108" cy="448981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**Same-Origin Policy**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เป็นนโยบายความปลอดภัยของเบราว์เซอร์ที่ป้องกันไม่ให้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JavaScript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จาก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origin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หนึ่งเรียก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API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จาก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origin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อื่นได้โดยอัตโนมัติ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ไม่สามารถป้องกันการเรียกจาก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API Tool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POSTMAN</a:t>
            </a:r>
            <a:endParaRPr lang="th-TH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Origin**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ประกอบด้วย 3 ส่วน:</a:t>
            </a:r>
          </a:p>
          <a:p>
            <a:pPr marL="0" indent="0">
              <a:buNone/>
            </a:pP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**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Protocol** (http/https)</a:t>
            </a: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**Domain** (localhost, example.com)</a:t>
            </a: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**Port** (ex 5001, 8080, 443)</a:t>
            </a: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Origin:**</a:t>
            </a: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```</a:t>
            </a: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https://localhost:5001  → Protocol: https, Domain: localhost, Port: 5001</a:t>
            </a: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http://localhost:8080   → Protocol: http, Domain: localhost, Port: 8080</a:t>
            </a: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https://example.com     → Protocol: https, Domain: example.com, Port: 443 (default)</a:t>
            </a: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```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A3CF2-A691-F985-A0AA-17ABBAA2681C}"/>
              </a:ext>
            </a:extLst>
          </p:cNvPr>
          <p:cNvSpPr txBox="1">
            <a:spLocks/>
          </p:cNvSpPr>
          <p:nvPr/>
        </p:nvSpPr>
        <p:spPr>
          <a:xfrm>
            <a:off x="5713152" y="1248048"/>
            <a:ext cx="5762568" cy="448981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**Same-Origin:**</a:t>
            </a: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✅ `https://localhost:5001`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`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https://localhost:5001` → **Same-Origin** (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เหมือนกันทุกอย่าง)</a:t>
            </a:r>
          </a:p>
          <a:p>
            <a:pPr marL="0" indent="0">
              <a:buNone/>
            </a:pP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✅ `http://localhost:8080`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`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http://localhost:8080` → **Same-Origin**</a:t>
            </a: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**Cross-Origin (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ต่าง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Origin):**</a:t>
            </a: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❌ `http://localhost:8080`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`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https://localhost:5001` → **Cross-Origin** (Protocol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ต่างกัน)</a:t>
            </a:r>
          </a:p>
          <a:p>
            <a:pPr marL="0" indent="0">
              <a:buNone/>
            </a:pP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❌ `http://localhost:3000`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`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http://localhost:5001` → **Cross-Origin** (Port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ต่างกัน)</a:t>
            </a:r>
          </a:p>
          <a:p>
            <a:pPr marL="0" indent="0">
              <a:buNone/>
            </a:pP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❌ `https://example.com`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`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https://api.example.com` → **Cross-Origin** (Domain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ต่างกัน)</a:t>
            </a:r>
          </a:p>
          <a:p>
            <a:pPr marL="0" indent="0">
              <a:buNone/>
            </a:pP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###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CORS (Cross-Origin Resource Sharing)</a:t>
            </a: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**CORS**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เป็นกลไกที่อนุญาตให้เบราว์เซอร์อนุญาตให้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JavaScript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จาก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origin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หนึ่งเรียก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API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จาก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origin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อื่นได้ โดยต้องมีการตั้งค่าที่ถูกต้องจากฝั่ง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Server</a:t>
            </a: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**CORS Flow:**</a:t>
            </a:r>
          </a:p>
          <a:p>
            <a:pPr marL="0" indent="0">
              <a:buNone/>
            </a:pP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 **Preflight Request (OPTIONS):**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เบราว์เซอร์ส่ง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OPTIONS request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เพื่อตรวจสอบว่า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Server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อนุญาตให้เรียก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API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จาก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origin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นี้หรือไม่</a:t>
            </a:r>
          </a:p>
          <a:p>
            <a:pPr marL="0" indent="0">
              <a:buNone/>
            </a:pP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 **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Actual Request:**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ถ้า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Server </a:t>
            </a:r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อนุญาต เบราว์เซอร์จะส่ง 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actual request (GET, POST, PUT, DELETE, etc.)</a:t>
            </a:r>
          </a:p>
        </p:txBody>
      </p:sp>
    </p:spTree>
    <p:extLst>
      <p:ext uri="{BB962C8B-B14F-4D97-AF65-F5344CB8AC3E}">
        <p14:creationId xmlns:p14="http://schemas.microsoft.com/office/powerpoint/2010/main" val="12019672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A7001-1E1D-F1FD-57BB-90DD79073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0F27F-76CB-2EB0-E21C-BCFB03E80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Configuring CORS in .NET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F1D458-933B-3A80-D596-708491E8E499}"/>
              </a:ext>
            </a:extLst>
          </p:cNvPr>
          <p:cNvSpPr txBox="1">
            <a:spLocks/>
          </p:cNvSpPr>
          <p:nvPr/>
        </p:nvSpPr>
        <p:spPr>
          <a:xfrm>
            <a:off x="838200" y="1248048"/>
            <a:ext cx="5852160" cy="48169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เปิดไฟล์ `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Program.cs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`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และเพิ่มการตั้งค่า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EB5DD-6F8B-B49C-357A-1996227EFF8D}"/>
              </a:ext>
            </a:extLst>
          </p:cNvPr>
          <p:cNvSpPr txBox="1">
            <a:spLocks/>
          </p:cNvSpPr>
          <p:nvPr/>
        </p:nvSpPr>
        <p:spPr>
          <a:xfrm>
            <a:off x="838200" y="1833200"/>
            <a:ext cx="5852160" cy="449902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 err="1">
                <a:latin typeface="+mn-lt"/>
                <a:cs typeface="TH SarabunPSK" panose="020B0500040200020003" pitchFamily="34" charset="-34"/>
              </a:rPr>
              <a:t>builder.Services.AddCors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(options =&gt;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{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    </a:t>
            </a:r>
            <a:r>
              <a:rPr lang="en-US" sz="900" dirty="0" err="1">
                <a:latin typeface="+mn-lt"/>
                <a:cs typeface="TH SarabunPSK" panose="020B0500040200020003" pitchFamily="34" charset="-34"/>
              </a:rPr>
              <a:t>options.AddPolicy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("</a:t>
            </a:r>
            <a:r>
              <a:rPr lang="en-US" sz="900" dirty="0" err="1">
                <a:latin typeface="+mn-lt"/>
                <a:cs typeface="TH SarabunPSK" panose="020B0500040200020003" pitchFamily="34" charset="-34"/>
              </a:rPr>
              <a:t>AllowAllOrigins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", policy =&gt;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    {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        </a:t>
            </a:r>
            <a:r>
              <a:rPr lang="en-US" sz="900" dirty="0" err="1">
                <a:latin typeface="+mn-lt"/>
                <a:cs typeface="TH SarabunPSK" panose="020B0500040200020003" pitchFamily="34" charset="-34"/>
              </a:rPr>
              <a:t>policy.AllowAnyOrigin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()      // </a:t>
            </a:r>
            <a:r>
              <a:rPr lang="th-TH" sz="900" dirty="0">
                <a:latin typeface="+mn-lt"/>
                <a:cs typeface="TH SarabunPSK" panose="020B0500040200020003" pitchFamily="34" charset="-34"/>
              </a:rPr>
              <a:t>อนุญาตทุก 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origin (⚠️ </a:t>
            </a:r>
            <a:r>
              <a:rPr lang="th-TH" sz="900" dirty="0">
                <a:latin typeface="+mn-lt"/>
                <a:cs typeface="TH SarabunPSK" panose="020B0500040200020003" pitchFamily="34" charset="-34"/>
              </a:rPr>
              <a:t>ไม่ปลอดภัยสำหรับ 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production)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              .</a:t>
            </a:r>
            <a:r>
              <a:rPr lang="en-US" sz="900" dirty="0" err="1">
                <a:latin typeface="+mn-lt"/>
                <a:cs typeface="TH SarabunPSK" panose="020B0500040200020003" pitchFamily="34" charset="-34"/>
              </a:rPr>
              <a:t>AllowAnyMethod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()       // </a:t>
            </a:r>
            <a:r>
              <a:rPr lang="th-TH" sz="900" dirty="0">
                <a:latin typeface="+mn-lt"/>
                <a:cs typeface="TH SarabunPSK" panose="020B0500040200020003" pitchFamily="34" charset="-34"/>
              </a:rPr>
              <a:t>อนุญาตทุก 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HTTP method (GET, POST, PUT, DELETE, etc.)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              .</a:t>
            </a:r>
            <a:r>
              <a:rPr lang="en-US" sz="900" dirty="0" err="1">
                <a:latin typeface="+mn-lt"/>
                <a:cs typeface="TH SarabunPSK" panose="020B0500040200020003" pitchFamily="34" charset="-34"/>
              </a:rPr>
              <a:t>AllowAnyHeader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();      // </a:t>
            </a:r>
            <a:r>
              <a:rPr lang="th-TH" sz="900" dirty="0">
                <a:latin typeface="+mn-lt"/>
                <a:cs typeface="TH SarabunPSK" panose="020B0500040200020003" pitchFamily="34" charset="-34"/>
              </a:rPr>
              <a:t>อนุญาตทุก 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header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    });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    // </a:t>
            </a:r>
            <a:r>
              <a:rPr lang="th-TH" sz="900" dirty="0">
                <a:latin typeface="+mn-lt"/>
                <a:cs typeface="TH SarabunPSK" panose="020B0500040200020003" pitchFamily="34" charset="-34"/>
              </a:rPr>
              <a:t>หรือกำหนด 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origin </a:t>
            </a:r>
            <a:r>
              <a:rPr lang="th-TH" sz="900" dirty="0">
                <a:latin typeface="+mn-lt"/>
                <a:cs typeface="TH SarabunPSK" panose="020B0500040200020003" pitchFamily="34" charset="-34"/>
              </a:rPr>
              <a:t>เฉพาะ (แนะนำสำหรับ 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production)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    </a:t>
            </a:r>
            <a:r>
              <a:rPr lang="en-US" sz="900" dirty="0" err="1">
                <a:latin typeface="+mn-lt"/>
                <a:cs typeface="TH SarabunPSK" panose="020B0500040200020003" pitchFamily="34" charset="-34"/>
              </a:rPr>
              <a:t>options.AddPolicy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("</a:t>
            </a:r>
            <a:r>
              <a:rPr lang="en-US" sz="900" dirty="0" err="1">
                <a:latin typeface="+mn-lt"/>
                <a:cs typeface="TH SarabunPSK" panose="020B0500040200020003" pitchFamily="34" charset="-34"/>
              </a:rPr>
              <a:t>AllowSpecificOrigins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", policy =&gt;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    {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        </a:t>
            </a:r>
            <a:r>
              <a:rPr lang="en-US" sz="900" dirty="0" err="1">
                <a:latin typeface="+mn-lt"/>
                <a:cs typeface="TH SarabunPSK" panose="020B0500040200020003" pitchFamily="34" charset="-34"/>
              </a:rPr>
              <a:t>policy.WithOrigins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("http://localhost:8080", "http://localhost:3000")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              .</a:t>
            </a:r>
            <a:r>
              <a:rPr lang="en-US" sz="900" dirty="0" err="1">
                <a:latin typeface="+mn-lt"/>
                <a:cs typeface="TH SarabunPSK" panose="020B0500040200020003" pitchFamily="34" charset="-34"/>
              </a:rPr>
              <a:t>AllowAnyMethod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()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              .</a:t>
            </a:r>
            <a:r>
              <a:rPr lang="en-US" sz="900" dirty="0" err="1">
                <a:latin typeface="+mn-lt"/>
                <a:cs typeface="TH SarabunPSK" panose="020B0500040200020003" pitchFamily="34" charset="-34"/>
              </a:rPr>
              <a:t>AllowAnyHeader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()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              .</a:t>
            </a:r>
            <a:r>
              <a:rPr lang="en-US" sz="900" dirty="0" err="1">
                <a:latin typeface="+mn-lt"/>
                <a:cs typeface="TH SarabunPSK" panose="020B0500040200020003" pitchFamily="34" charset="-34"/>
              </a:rPr>
              <a:t>AllowCredentials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();    // </a:t>
            </a:r>
            <a:r>
              <a:rPr lang="th-TH" sz="900" dirty="0">
                <a:latin typeface="+mn-lt"/>
                <a:cs typeface="TH SarabunPSK" panose="020B0500040200020003" pitchFamily="34" charset="-34"/>
              </a:rPr>
              <a:t>อนุญาตให้ส่ง </a:t>
            </a:r>
            <a:r>
              <a:rPr lang="en-US" sz="900" dirty="0">
                <a:latin typeface="+mn-lt"/>
                <a:cs typeface="TH SarabunPSK" panose="020B0500040200020003" pitchFamily="34" charset="-34"/>
              </a:rPr>
              <a:t>credentials (cookies, authorization headers)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    });</a:t>
            </a:r>
          </a:p>
          <a:p>
            <a:pPr marL="0" indent="0">
              <a:buNone/>
            </a:pPr>
            <a:r>
              <a:rPr lang="en-US" sz="900" dirty="0">
                <a:latin typeface="+mn-lt"/>
                <a:cs typeface="TH SarabunPSK" panose="020B0500040200020003" pitchFamily="34" charset="-34"/>
              </a:rPr>
              <a:t>});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158D90-47B4-90AE-9580-7A58DC83E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584" y="1833200"/>
            <a:ext cx="4828220" cy="280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908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234FA-9822-E043-712D-B0634899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2CB6D-7962-A14C-83C2-DF5548C7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Configuring CORS in .NET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D9D788-6B9A-F19A-534C-597C4887C906}"/>
              </a:ext>
            </a:extLst>
          </p:cNvPr>
          <p:cNvSpPr txBox="1">
            <a:spLocks/>
          </p:cNvSpPr>
          <p:nvPr/>
        </p:nvSpPr>
        <p:spPr>
          <a:xfrm>
            <a:off x="838200" y="1537608"/>
            <a:ext cx="5852160" cy="242479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24B4F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เปิดไฟล์ `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Program.cs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`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และเพิ่มการการใช้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Origins Policy</a:t>
            </a: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// ใช้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CORS middleware (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ต้องมาก่อน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UseAuthorization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pPr marL="0" indent="0">
              <a:buNone/>
            </a:pPr>
            <a:r>
              <a:rPr lang="en-US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app.UseCors</a:t>
            </a:r>
            <a:r>
              <a:rPr lang="en-US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("</a:t>
            </a:r>
            <a:r>
              <a:rPr lang="en-US" dirty="0" err="1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AllowAllOrigins</a:t>
            </a:r>
            <a:r>
              <a:rPr lang="en-US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"); 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//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"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AllowSpecificOrigins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"</a:t>
            </a: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7051BB-F6C6-3847-D237-BB0426F1C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700" y="1739785"/>
            <a:ext cx="4609806" cy="202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9879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0C3AB-A08F-147C-FA20-7FA81872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B6E97-A6C8-311F-502A-FF9200C5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 anchor="ctr">
            <a:normAutofit/>
          </a:bodyPr>
          <a:lstStyle/>
          <a:p>
            <a:r>
              <a:rPr lang="en-US" dirty="0"/>
              <a:t>Creating Frontend Test Pages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D1F6A3-5DA7-6EEA-D781-F2774E4F2325}"/>
              </a:ext>
            </a:extLst>
          </p:cNvPr>
          <p:cNvSpPr txBox="1"/>
          <p:nvPr/>
        </p:nvSpPr>
        <p:spPr>
          <a:xfrm>
            <a:off x="2453640" y="1074420"/>
            <a:ext cx="4182555" cy="5016758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sz="800" dirty="0"/>
              <a:t>&lt;!DOCTYPE </a:t>
            </a:r>
            <a:r>
              <a:rPr lang="en-US" sz="800" i="1" dirty="0"/>
              <a:t>html</a:t>
            </a:r>
            <a:r>
              <a:rPr lang="en-US" sz="800" dirty="0"/>
              <a:t>&gt;</a:t>
            </a:r>
          </a:p>
          <a:p>
            <a:r>
              <a:rPr lang="en-US" sz="800" dirty="0"/>
              <a:t>&lt;html </a:t>
            </a:r>
            <a:r>
              <a:rPr lang="en-US" sz="800" i="1" dirty="0"/>
              <a:t>lang</a:t>
            </a:r>
            <a:r>
              <a:rPr lang="en-US" sz="800" dirty="0"/>
              <a:t>="</a:t>
            </a:r>
            <a:r>
              <a:rPr lang="en-US" sz="800" dirty="0" err="1"/>
              <a:t>en</a:t>
            </a:r>
            <a:r>
              <a:rPr lang="en-US" sz="800" dirty="0"/>
              <a:t>"&gt;</a:t>
            </a:r>
          </a:p>
          <a:p>
            <a:br>
              <a:rPr lang="en-US" sz="800" dirty="0"/>
            </a:br>
            <a:endParaRPr lang="en-US" sz="800" dirty="0"/>
          </a:p>
          <a:p>
            <a:r>
              <a:rPr lang="en-US" sz="800" dirty="0"/>
              <a:t>&lt;head&gt;</a:t>
            </a:r>
          </a:p>
          <a:p>
            <a:r>
              <a:rPr lang="en-US" sz="800" dirty="0"/>
              <a:t>    &lt;meta </a:t>
            </a:r>
            <a:r>
              <a:rPr lang="en-US" sz="800" i="1" dirty="0"/>
              <a:t>charset</a:t>
            </a:r>
            <a:r>
              <a:rPr lang="en-US" sz="800" dirty="0"/>
              <a:t>="UTF-8"&gt;</a:t>
            </a:r>
          </a:p>
          <a:p>
            <a:r>
              <a:rPr lang="en-US" sz="800" dirty="0"/>
              <a:t>    &lt;meta </a:t>
            </a:r>
            <a:r>
              <a:rPr lang="en-US" sz="800" i="1" dirty="0"/>
              <a:t>name</a:t>
            </a:r>
            <a:r>
              <a:rPr lang="en-US" sz="800" dirty="0"/>
              <a:t>="viewport" </a:t>
            </a:r>
            <a:r>
              <a:rPr lang="en-US" sz="800" i="1" dirty="0"/>
              <a:t>content</a:t>
            </a:r>
            <a:r>
              <a:rPr lang="en-US" sz="800" dirty="0"/>
              <a:t>="width=device-width, initial-scale=1.0"&gt;</a:t>
            </a:r>
          </a:p>
          <a:p>
            <a:r>
              <a:rPr lang="en-US" sz="800" dirty="0"/>
              <a:t>    &lt;title&gt;POST CORS Test&lt;/title&gt;</a:t>
            </a:r>
          </a:p>
          <a:p>
            <a:r>
              <a:rPr lang="en-US" sz="800" dirty="0"/>
              <a:t>&lt;/head&gt;</a:t>
            </a:r>
          </a:p>
          <a:p>
            <a:br>
              <a:rPr lang="en-US" sz="800" dirty="0"/>
            </a:br>
            <a:endParaRPr lang="en-US" sz="800" dirty="0"/>
          </a:p>
          <a:p>
            <a:r>
              <a:rPr lang="en-US" sz="800" dirty="0"/>
              <a:t>&lt;body&gt;</a:t>
            </a:r>
          </a:p>
          <a:p>
            <a:r>
              <a:rPr lang="en-US" sz="800" dirty="0"/>
              <a:t>    &lt;h1&gt;POST CORS Test&lt;/h1&gt;</a:t>
            </a:r>
          </a:p>
          <a:p>
            <a:r>
              <a:rPr lang="en-US" sz="800" dirty="0"/>
              <a:t>    &lt;button </a:t>
            </a:r>
            <a:r>
              <a:rPr lang="en-US" sz="800" i="1" dirty="0"/>
              <a:t>onclick</a:t>
            </a:r>
            <a:r>
              <a:rPr lang="en-US" sz="800" dirty="0"/>
              <a:t>="</a:t>
            </a:r>
            <a:r>
              <a:rPr lang="en-US" sz="800" i="1" dirty="0" err="1"/>
              <a:t>testPostCORS</a:t>
            </a:r>
            <a:r>
              <a:rPr lang="en-US" sz="800" dirty="0"/>
              <a:t>()"&gt;Test POST CORS&lt;/button&gt;</a:t>
            </a:r>
          </a:p>
          <a:p>
            <a:r>
              <a:rPr lang="en-US" sz="800" dirty="0"/>
              <a:t>    &lt;p </a:t>
            </a:r>
            <a:r>
              <a:rPr lang="en-US" sz="800" i="1" dirty="0"/>
              <a:t>id</a:t>
            </a:r>
            <a:r>
              <a:rPr lang="en-US" sz="800" dirty="0"/>
              <a:t>="result"&gt;&lt;/p&gt;</a:t>
            </a:r>
          </a:p>
          <a:p>
            <a:br>
              <a:rPr lang="en-US" sz="800" dirty="0"/>
            </a:br>
            <a:endParaRPr lang="en-US" sz="800" dirty="0"/>
          </a:p>
          <a:p>
            <a:r>
              <a:rPr lang="en-US" sz="800" dirty="0"/>
              <a:t>    &lt;script&gt;</a:t>
            </a:r>
          </a:p>
          <a:p>
            <a:r>
              <a:rPr lang="en-US" sz="800" dirty="0"/>
              <a:t>        function </a:t>
            </a:r>
            <a:r>
              <a:rPr lang="en-US" sz="800" i="1" dirty="0" err="1"/>
              <a:t>testPostCORS</a:t>
            </a:r>
            <a:r>
              <a:rPr lang="en-US" sz="800" dirty="0"/>
              <a:t>() {</a:t>
            </a:r>
          </a:p>
          <a:p>
            <a:r>
              <a:rPr lang="en-US" sz="800" dirty="0"/>
              <a:t>            </a:t>
            </a:r>
            <a:r>
              <a:rPr lang="en-US" sz="800" i="1" dirty="0"/>
              <a:t>fetch</a:t>
            </a:r>
            <a:r>
              <a:rPr lang="en-US" sz="800" dirty="0"/>
              <a:t>("</a:t>
            </a:r>
            <a:r>
              <a:rPr lang="en-US" sz="800" dirty="0">
                <a:highlight>
                  <a:srgbClr val="FFFF00"/>
                </a:highlight>
              </a:rPr>
              <a:t>https://localhost:7292</a:t>
            </a:r>
            <a:r>
              <a:rPr lang="en-US" sz="800" dirty="0"/>
              <a:t>/</a:t>
            </a:r>
            <a:r>
              <a:rPr lang="en-US" sz="800" dirty="0" err="1"/>
              <a:t>api</a:t>
            </a:r>
            <a:r>
              <a:rPr lang="en-US" sz="800" dirty="0"/>
              <a:t>/auth/login", {</a:t>
            </a:r>
          </a:p>
          <a:p>
            <a:r>
              <a:rPr lang="en-US" sz="800" dirty="0"/>
              <a:t>                method: "POST",</a:t>
            </a:r>
          </a:p>
          <a:p>
            <a:r>
              <a:rPr lang="en-US" sz="800" dirty="0"/>
              <a:t>                headers: {</a:t>
            </a:r>
          </a:p>
          <a:p>
            <a:r>
              <a:rPr lang="en-US" sz="800" dirty="0"/>
              <a:t>                    "Content-Type": "application/</a:t>
            </a:r>
            <a:r>
              <a:rPr lang="en-US" sz="800" dirty="0" err="1"/>
              <a:t>json</a:t>
            </a:r>
            <a:r>
              <a:rPr lang="en-US" sz="800" dirty="0"/>
              <a:t>"</a:t>
            </a:r>
          </a:p>
          <a:p>
            <a:r>
              <a:rPr lang="en-US" sz="800" dirty="0"/>
              <a:t>                },</a:t>
            </a:r>
          </a:p>
          <a:p>
            <a:r>
              <a:rPr lang="en-US" sz="800" dirty="0"/>
              <a:t>                body: </a:t>
            </a:r>
            <a:r>
              <a:rPr lang="en-US" sz="800" dirty="0" err="1"/>
              <a:t>JSON</a:t>
            </a:r>
            <a:r>
              <a:rPr lang="en-US" sz="800" i="1" dirty="0" err="1"/>
              <a:t>.</a:t>
            </a:r>
            <a:r>
              <a:rPr lang="en-US" sz="800" dirty="0" err="1"/>
              <a:t>stringify</a:t>
            </a:r>
            <a:r>
              <a:rPr lang="en-US" sz="800" dirty="0"/>
              <a:t>({ username: "</a:t>
            </a:r>
            <a:r>
              <a:rPr lang="en-US" sz="800" dirty="0" err="1">
                <a:highlight>
                  <a:srgbClr val="FFFF00"/>
                </a:highlight>
              </a:rPr>
              <a:t>loginName</a:t>
            </a:r>
            <a:r>
              <a:rPr lang="en-US" sz="800" dirty="0"/>
              <a:t>", password: "</a:t>
            </a:r>
            <a:r>
              <a:rPr lang="en-US" sz="800" dirty="0" err="1">
                <a:highlight>
                  <a:srgbClr val="FFFF00"/>
                </a:highlight>
              </a:rPr>
              <a:t>Ab@cdefGH</a:t>
            </a:r>
            <a:r>
              <a:rPr lang="en-US" sz="800" dirty="0"/>
              <a:t>" })</a:t>
            </a:r>
          </a:p>
          <a:p>
            <a:r>
              <a:rPr lang="en-US" sz="800" dirty="0"/>
              <a:t>            })</a:t>
            </a:r>
          </a:p>
          <a:p>
            <a:r>
              <a:rPr lang="en-US" sz="800" dirty="0"/>
              <a:t>                </a:t>
            </a:r>
            <a:r>
              <a:rPr lang="en-US" sz="800" i="1" dirty="0"/>
              <a:t>.then</a:t>
            </a:r>
            <a:r>
              <a:rPr lang="en-US" sz="800" dirty="0"/>
              <a:t>(response =&gt; </a:t>
            </a:r>
            <a:r>
              <a:rPr lang="en-US" sz="800" i="1" dirty="0" err="1"/>
              <a:t>response.json</a:t>
            </a:r>
            <a:r>
              <a:rPr lang="en-US" sz="800" dirty="0"/>
              <a:t>())</a:t>
            </a:r>
          </a:p>
          <a:p>
            <a:r>
              <a:rPr lang="en-US" sz="800" dirty="0"/>
              <a:t>                </a:t>
            </a:r>
            <a:r>
              <a:rPr lang="en-US" sz="800" i="1" dirty="0"/>
              <a:t>.then</a:t>
            </a:r>
            <a:r>
              <a:rPr lang="en-US" sz="800" dirty="0"/>
              <a:t>(data =&gt; {</a:t>
            </a:r>
          </a:p>
          <a:p>
            <a:r>
              <a:rPr lang="en-US" sz="800" dirty="0"/>
              <a:t>                    </a:t>
            </a:r>
            <a:r>
              <a:rPr lang="en-US" sz="800" i="1" dirty="0" err="1"/>
              <a:t>document.getElementById</a:t>
            </a:r>
            <a:r>
              <a:rPr lang="en-US" sz="800" dirty="0"/>
              <a:t>('result')</a:t>
            </a:r>
            <a:r>
              <a:rPr lang="en-US" sz="800" i="1" dirty="0"/>
              <a:t>.</a:t>
            </a:r>
            <a:r>
              <a:rPr lang="en-US" sz="800" dirty="0" err="1"/>
              <a:t>textContent</a:t>
            </a:r>
            <a:r>
              <a:rPr lang="en-US" sz="800" dirty="0"/>
              <a:t> = </a:t>
            </a:r>
            <a:r>
              <a:rPr lang="en-US" sz="800" dirty="0" err="1"/>
              <a:t>JSON</a:t>
            </a:r>
            <a:r>
              <a:rPr lang="en-US" sz="800" i="1" dirty="0" err="1"/>
              <a:t>.</a:t>
            </a:r>
            <a:r>
              <a:rPr lang="en-US" sz="800" dirty="0" err="1"/>
              <a:t>stringify</a:t>
            </a:r>
            <a:r>
              <a:rPr lang="en-US" sz="800" dirty="0"/>
              <a:t>(data);</a:t>
            </a:r>
          </a:p>
          <a:p>
            <a:r>
              <a:rPr lang="en-US" sz="800" dirty="0"/>
              <a:t>                })</a:t>
            </a:r>
          </a:p>
          <a:p>
            <a:r>
              <a:rPr lang="en-US" sz="800" dirty="0"/>
              <a:t>                </a:t>
            </a:r>
            <a:r>
              <a:rPr lang="en-US" sz="800" i="1" dirty="0"/>
              <a:t>.catch</a:t>
            </a:r>
            <a:r>
              <a:rPr lang="en-US" sz="800" dirty="0"/>
              <a:t>(error =&gt; {</a:t>
            </a:r>
          </a:p>
          <a:p>
            <a:r>
              <a:rPr lang="en-US" sz="800" dirty="0"/>
              <a:t>                    </a:t>
            </a:r>
            <a:r>
              <a:rPr lang="en-US" sz="800" i="1" dirty="0" err="1"/>
              <a:t>document.getElementById</a:t>
            </a:r>
            <a:r>
              <a:rPr lang="en-US" sz="800" dirty="0"/>
              <a:t>('result')</a:t>
            </a:r>
            <a:r>
              <a:rPr lang="en-US" sz="800" i="1" dirty="0"/>
              <a:t>.</a:t>
            </a:r>
            <a:r>
              <a:rPr lang="en-US" sz="800" dirty="0" err="1"/>
              <a:t>textContent</a:t>
            </a:r>
            <a:r>
              <a:rPr lang="en-US" sz="800" dirty="0"/>
              <a:t> = 'Error: ' + error;</a:t>
            </a:r>
          </a:p>
          <a:p>
            <a:r>
              <a:rPr lang="en-US" sz="800" dirty="0"/>
              <a:t>                });</a:t>
            </a:r>
          </a:p>
          <a:p>
            <a:r>
              <a:rPr lang="en-US" sz="800" dirty="0"/>
              <a:t>        }</a:t>
            </a:r>
          </a:p>
          <a:p>
            <a:r>
              <a:rPr lang="en-US" sz="800" dirty="0"/>
              <a:t>    &lt;/script&gt;</a:t>
            </a:r>
          </a:p>
          <a:p>
            <a:r>
              <a:rPr lang="en-US" sz="800" dirty="0"/>
              <a:t>&lt;/body&gt;</a:t>
            </a:r>
          </a:p>
          <a:p>
            <a:br>
              <a:rPr lang="en-US" sz="800" dirty="0"/>
            </a:br>
            <a:endParaRPr lang="en-US" sz="800" dirty="0"/>
          </a:p>
          <a:p>
            <a:r>
              <a:rPr lang="en-US" sz="800" dirty="0"/>
              <a:t>&lt;/html&gt;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0602699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D9977-146D-22CD-898A-ABC7B0B43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6814C-B26A-2862-449E-0A0BE2558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6237" y="2093323"/>
            <a:ext cx="2216543" cy="1312817"/>
          </a:xfrm>
        </p:spPr>
        <p:txBody>
          <a:bodyPr>
            <a:normAutofit/>
          </a:bodyPr>
          <a:lstStyle/>
          <a:p>
            <a:r>
              <a:rPr lang="en-US" sz="54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056315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okio Marine">
      <a:dk1>
        <a:srgbClr val="324B4F"/>
      </a:dk1>
      <a:lt1>
        <a:srgbClr val="DFF7F7"/>
      </a:lt1>
      <a:dk2>
        <a:srgbClr val="44546A"/>
      </a:dk2>
      <a:lt2>
        <a:srgbClr val="E7E6E6"/>
      </a:lt2>
      <a:accent1>
        <a:srgbClr val="0090A1"/>
      </a:accent1>
      <a:accent2>
        <a:srgbClr val="CADA2E"/>
      </a:accent2>
      <a:accent3>
        <a:srgbClr val="005A70"/>
      </a:accent3>
      <a:accent4>
        <a:srgbClr val="00AAA6"/>
      </a:accent4>
      <a:accent5>
        <a:srgbClr val="39C29F"/>
      </a:accent5>
      <a:accent6>
        <a:srgbClr val="75D890"/>
      </a:accent6>
      <a:hlink>
        <a:srgbClr val="0090A1"/>
      </a:hlink>
      <a:folHlink>
        <a:srgbClr val="75D890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PPT 2023_TMA" id="{D6EF13B5-C89E-41DA-9112-A4EE3CFBF4FB}" vid="{654326FB-EA64-42C8-9EE8-766883FEB5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8C1FC183636946B7FDD6DD12200020" ma:contentTypeVersion="14" ma:contentTypeDescription="Create a new document." ma:contentTypeScope="" ma:versionID="cfd3d266fdb4cb70a50f3766bf0c406f">
  <xsd:schema xmlns:xsd="http://www.w3.org/2001/XMLSchema" xmlns:xs="http://www.w3.org/2001/XMLSchema" xmlns:p="http://schemas.microsoft.com/office/2006/metadata/properties" xmlns:ns2="d577425b-728b-43c6-8688-78b3ac052198" xmlns:ns3="cb013c47-f406-4e35-b7e2-1fb196251cef" targetNamespace="http://schemas.microsoft.com/office/2006/metadata/properties" ma:root="true" ma:fieldsID="b8193860c64eb374ca21092fb7228eb9" ns2:_="" ns3:_="">
    <xsd:import namespace="d577425b-728b-43c6-8688-78b3ac052198"/>
    <xsd:import namespace="cb013c47-f406-4e35-b7e2-1fb196251c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77425b-728b-43c6-8688-78b3ac052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b574f72f-f9a7-47be-9343-7fa585dc2f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013c47-f406-4e35-b7e2-1fb196251ce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6ec5726-ba88-469b-a7a4-9dc03180453c}" ma:internalName="TaxCatchAll" ma:showField="CatchAllData" ma:web="cb013c47-f406-4e35-b7e2-1fb196251c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b013c47-f406-4e35-b7e2-1fb196251cef" xsi:nil="true"/>
    <lcf76f155ced4ddcb4097134ff3c332f xmlns="d577425b-728b-43c6-8688-78b3ac0521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880564B-D6E4-4159-9AF0-B8EB16DB07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30BAF4-6466-4D7E-9094-281A6C98C4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77425b-728b-43c6-8688-78b3ac052198"/>
    <ds:schemaRef ds:uri="cb013c47-f406-4e35-b7e2-1fb196251c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740AA6-502B-455A-94B2-C4D5FC6DD4DC}">
  <ds:schemaRefs>
    <ds:schemaRef ds:uri="http://schemas.microsoft.com/office/2006/metadata/properties"/>
    <ds:schemaRef ds:uri="827e0585-be6a-4723-80b0-4b0fff209429"/>
    <ds:schemaRef ds:uri="http://purl.org/dc/terms/"/>
    <ds:schemaRef ds:uri="http://schemas.microsoft.com/office/2006/documentManagement/types"/>
    <ds:schemaRef ds:uri="48537cb9-45f3-4efd-8d8c-24e53d9b4a4c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elements/1.1/"/>
    <ds:schemaRef ds:uri="cb013c47-f406-4e35-b7e2-1fb196251cef"/>
    <ds:schemaRef ds:uri="d577425b-728b-43c6-8688-78b3ac0521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PPT 2023_TMA</Template>
  <TotalTime>2704</TotalTime>
  <Words>3605</Words>
  <Application>Microsoft Office PowerPoint</Application>
  <PresentationFormat>Widescreen</PresentationFormat>
  <Paragraphs>514</Paragraphs>
  <Slides>53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Arial</vt:lpstr>
      <vt:lpstr>Calibri</vt:lpstr>
      <vt:lpstr>TH SarabunPSK</vt:lpstr>
      <vt:lpstr>Trebuchet MS</vt:lpstr>
      <vt:lpstr>Office Theme</vt:lpstr>
      <vt:lpstr>Packager Shell Object</vt:lpstr>
      <vt:lpstr>Package</vt:lpstr>
      <vt:lpstr>API Development </vt:lpstr>
      <vt:lpstr>Agenda</vt:lpstr>
      <vt:lpstr>Session 1:Building RESTful API</vt:lpstr>
      <vt:lpstr>Introduction &amp; Setup </vt:lpstr>
      <vt:lpstr>Introduction &amp; Setup </vt:lpstr>
      <vt:lpstr>Create Project and Project structure</vt:lpstr>
      <vt:lpstr>Create Project and Project structure</vt:lpstr>
      <vt:lpstr>Create Project and Project structure</vt:lpstr>
      <vt:lpstr>Create Project and Project structure</vt:lpstr>
      <vt:lpstr>APIs Document Swagger</vt:lpstr>
      <vt:lpstr>APIs Document Swagger</vt:lpstr>
      <vt:lpstr>In-Memory Data Store</vt:lpstr>
      <vt:lpstr>In-Memory Data Store</vt:lpstr>
      <vt:lpstr>In-Memory Data Store</vt:lpstr>
      <vt:lpstr>In-Memory Data Store</vt:lpstr>
      <vt:lpstr>In-Memory Data Store</vt:lpstr>
      <vt:lpstr>In-Memory Data Store</vt:lpstr>
      <vt:lpstr>Implementing CRUD Operations</vt:lpstr>
      <vt:lpstr>Implementing CRUD Operations</vt:lpstr>
      <vt:lpstr>Implementing CRUD Operations</vt:lpstr>
      <vt:lpstr>Implementing CRUD Operations</vt:lpstr>
      <vt:lpstr>Input Validation</vt:lpstr>
      <vt:lpstr>Testing with Swagger &amp; Postman</vt:lpstr>
      <vt:lpstr>Testing with Swagger &amp; Postman</vt:lpstr>
      <vt:lpstr>Testing with Swagger &amp; Postman</vt:lpstr>
      <vt:lpstr>Testing with Swagger &amp; Postman</vt:lpstr>
      <vt:lpstr>Session 2: JWT Authentication Development</vt:lpstr>
      <vt:lpstr>Introduction to Authentication</vt:lpstr>
      <vt:lpstr>Introduction to Authentication</vt:lpstr>
      <vt:lpstr>Project Setup &amp; Dependencies</vt:lpstr>
      <vt:lpstr>Updating User Model</vt:lpstr>
      <vt:lpstr>Updating User Model</vt:lpstr>
      <vt:lpstr>Updating User Model</vt:lpstr>
      <vt:lpstr>Updating User Model</vt:lpstr>
      <vt:lpstr>Updating User Model</vt:lpstr>
      <vt:lpstr>Updating User Model</vt:lpstr>
      <vt:lpstr>Updating User Model</vt:lpstr>
      <vt:lpstr>Updating User Model</vt:lpstr>
      <vt:lpstr>Updating User Model</vt:lpstr>
      <vt:lpstr>Creating Services </vt:lpstr>
      <vt:lpstr>Creating Services </vt:lpstr>
      <vt:lpstr>Creating Services </vt:lpstr>
      <vt:lpstr>Configuring JWT Authentication</vt:lpstr>
      <vt:lpstr>Configuring JWT Authentication</vt:lpstr>
      <vt:lpstr>Configuring JWT Authentication</vt:lpstr>
      <vt:lpstr>Implementing Auth Endpoints</vt:lpstr>
      <vt:lpstr>Testing Authentication</vt:lpstr>
      <vt:lpstr>Session 3: CORS</vt:lpstr>
      <vt:lpstr>Understanding CORS</vt:lpstr>
      <vt:lpstr>Configuring CORS in .NET</vt:lpstr>
      <vt:lpstr>Configuring CORS in .NET</vt:lpstr>
      <vt:lpstr>Creating Frontend Test Pages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Jia Min Koh</dc:creator>
  <cp:lastModifiedBy>Chutipon Mainita</cp:lastModifiedBy>
  <cp:revision>57</cp:revision>
  <dcterms:created xsi:type="dcterms:W3CDTF">2023-08-10T03:09:55Z</dcterms:created>
  <dcterms:modified xsi:type="dcterms:W3CDTF">2026-03-11T07:04:21Z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0x010100C88C1FC183636946B7FDD6DD12200020</vt:lpwstr>
  </property>
  <property fmtid="{D5CDD505-2E9C-101B-9397-08002B2CF9AE}" pid="3" name="MediaServiceImageTags">
    <vt:lpwstr/>
  </property>
  <property fmtid="{D5CDD505-2E9C-101B-9397-08002B2CF9AE}" pid="4" name="Order">
    <vt:r8>89800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